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178" r:id="rId2"/>
    <p:sldId id="1162" r:id="rId3"/>
    <p:sldId id="1164" r:id="rId4"/>
    <p:sldId id="1177" r:id="rId5"/>
    <p:sldId id="1173" r:id="rId6"/>
    <p:sldId id="1181" r:id="rId7"/>
    <p:sldId id="1175" r:id="rId8"/>
    <p:sldId id="1161" r:id="rId9"/>
    <p:sldId id="1182" r:id="rId10"/>
    <p:sldId id="1183" r:id="rId11"/>
    <p:sldId id="1190" r:id="rId12"/>
    <p:sldId id="1191" r:id="rId13"/>
    <p:sldId id="1188" r:id="rId14"/>
    <p:sldId id="1189" r:id="rId15"/>
    <p:sldId id="1194" r:id="rId16"/>
    <p:sldId id="1192" r:id="rId17"/>
    <p:sldId id="1193" r:id="rId18"/>
    <p:sldId id="1176" r:id="rId19"/>
    <p:sldId id="1195" r:id="rId20"/>
    <p:sldId id="1197" r:id="rId21"/>
    <p:sldId id="1198" r:id="rId22"/>
    <p:sldId id="1199" r:id="rId23"/>
    <p:sldId id="120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C5D4B-B3FB-4545-96D3-E1459BD7832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19CF8-CCAC-4E5E-8A62-23052B324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4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8E51C-B263-4EAE-85E8-5A43907BF6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55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Dynamic </a:t>
            </a:r>
            <a:r>
              <a:rPr lang="en-US" dirty="0" err="1"/>
              <a:t>bc</a:t>
            </a:r>
            <a:r>
              <a:rPr lang="en-US" dirty="0"/>
              <a:t>-bound for each image, fixed general criterion and fixed or dynamic mutual similarity weight.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19CF8-CCAC-4E5E-8A62-23052B324C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4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Dynamic border &amp; content decision variable for each image, fixed general criterion and fixed or dynamic mutual-similarity weight.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19CF8-CCAC-4E5E-8A62-23052B324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84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Dynamic content-criterion shift for each image, fixed general criterion and fixed or dynamic mutual-similarity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19CF8-CCAC-4E5E-8A62-23052B324C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94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0ABC-F951-6DF0-184C-72D2FE03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53549-CCD0-77EB-6D63-A28D8D4B2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04E25-E93A-354D-7835-8B0655BA0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1FD02-0F6E-C4C1-A724-2606ED7AE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8E51C-B263-4EAE-85E8-5A43907BF6B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41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8561-BDA5-C64B-C6F2-2F22620C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46CA9-FA92-A798-1FA9-83A93351D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37E08-5D8B-57BE-8512-79665C9F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Dynamic content-criterion shift for each image, fixed general criterion and fixed or dynamic mutual-similarity weight.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6F7BB-926E-AB63-6137-5A572C134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19CF8-CCAC-4E5E-8A62-23052B324C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63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1D5B-B312-7A62-80FA-6140A1D6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595B7-9E84-02EA-C494-2D8D6B70B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D362D-795E-7E42-72FA-D25A96463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Dynamic content-criterion shift for each image, fixed general criterion and fixed or dynamic mutual-similarity weight.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E2A36-0440-8CD2-4EFF-870E92D76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19CF8-CCAC-4E5E-8A62-23052B324C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04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02FF-2BD3-BABF-C350-DF8138541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F4129-9484-3BA9-F1EB-C80F90060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15E3D-AA07-45F4-62B6-E00E7A25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12579-4E1C-B02D-6730-3C0D6069D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450F2-5E5F-2867-395C-513BDB11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227B-9C93-1833-4391-5BF19E8F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C77C6-C97B-5727-4455-14975F2C0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822C4-0E53-1567-E33D-8CC3346A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B318-CD52-FC05-217E-7E1851B6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5A072-DFAB-31A0-DFB2-649EC181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2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29E7-1EF7-DF26-1F12-0EEDFC39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0C4A0-4BD1-4DAB-3A67-D0004F85E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9FAA0-485C-AC5E-F8B9-FB75CB16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03E5-B96D-482A-BFA6-A00D1F8A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DE063-3947-101F-D9E8-128D799E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0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C4FA-2C30-E5AE-4BC9-668113D3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468A7-8CE6-DA6C-D649-1E82E4150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56686-9967-9C63-84C4-47A24A825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76A94-E114-9F46-14AE-A023170A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85146-1345-E86A-F7BB-7910B741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98A26-BF80-4BE6-C695-C6817B7E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9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9246-F65A-D6B8-4DE7-919A9E1CF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56CC6-1946-5E84-7338-99099AE90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0B44B-E8E0-BC73-3F22-37553BA8F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D9016-3AD2-C144-A0D0-E58209D2D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58D34-97A7-71E9-328E-9D8D8B168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1EAAD9-8F5A-2661-3ABF-2B248C19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798EA-9D8A-31D8-77F5-71FB8152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B1DE4-24F3-A618-CFE6-FA5900C2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0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B99D-BCB6-2C9F-3CD6-76E7BFD3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ADB796-EF47-65F9-2698-20B1ED56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98CA8-3BE1-0417-BEEC-6A781043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EB7B4-4F97-9F57-3B09-107FD66A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3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07342-FF97-606C-0C84-D6F1D633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E8A73-0D30-A055-704E-1B2DE8F9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F6AB3-120F-7394-48B2-B8517791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0BBA-4A65-F976-628D-BCDE55BD5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FCE74-F446-D752-1E6E-F92DB349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86896-F4D4-AD4A-488B-450927D27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C5F9-85E5-9E73-1160-4BA2FD94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30112-A0CC-F31F-74D9-922E9D59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7C68A-FF21-06F9-96EF-2678F21C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4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1FDF-169F-EE20-27B9-338D86CF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891E3-D5D6-1D9E-3015-5DE2BEF8F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9589C-8793-E272-E98C-BC6E58530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DE4AD-52F5-E6A8-B7FC-1B8BCDB7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E152D-D108-C700-B53E-F92104E8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5F6F2-6596-7074-B027-86010E98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BF96-4C91-4CFA-48C3-617B4238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F584F-96CE-0701-D508-EBD2935AE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1840E-F20F-E129-2EFC-3FDF801E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505DB-ADCC-A0F9-1535-8205B275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C6003-D828-B360-CCF2-BB94643A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6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577122-2E18-4B64-E26B-6D080341B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67BE0-DB86-86B5-D8D5-1F2367EF9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7A23F-9637-E38B-A2EC-ECDC5C81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6FFF6-3EED-1751-9905-A116223C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E4595-9E85-B6F4-B65B-2525F08C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2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BC421-ED2E-BA8C-8ABE-8220C5586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D723-61EF-6435-5512-06D415138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BBC5-3315-36F2-B2F6-7AB229465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84B2B-58B8-4A62-A331-15D6B93B46F6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84BEF-9870-70F1-0FE1-D5A82155C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2088F-3731-4DB9-8FF6-097D6C6A0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E1C4C-21F9-4E2D-9678-060C90B4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3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0369CF-39F9-4399-0AA7-C3F0AEBC8A5A}"/>
              </a:ext>
            </a:extLst>
          </p:cNvPr>
          <p:cNvSpPr txBox="1"/>
          <p:nvPr/>
        </p:nvSpPr>
        <p:spPr>
          <a:xfrm>
            <a:off x="2677416" y="1802486"/>
            <a:ext cx="74436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Training Priors for Task Independent Features with Natural Images</a:t>
            </a:r>
          </a:p>
        </p:txBody>
      </p:sp>
    </p:spTree>
    <p:extLst>
      <p:ext uri="{BB962C8B-B14F-4D97-AF65-F5344CB8AC3E}">
        <p14:creationId xmlns:p14="http://schemas.microsoft.com/office/powerpoint/2010/main" val="67804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948CF-14A7-7E3A-42E5-D04642F538C6}"/>
              </a:ext>
            </a:extLst>
          </p:cNvPr>
          <p:cNvSpPr txBox="1"/>
          <p:nvPr/>
        </p:nvSpPr>
        <p:spPr>
          <a:xfrm>
            <a:off x="652940" y="270500"/>
            <a:ext cx="10943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Texture discrimination: learn the transform to ABR space from natural images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37C1E-CC90-17AC-BDAF-C9BBEFE6709D}"/>
              </a:ext>
            </a:extLst>
          </p:cNvPr>
          <p:cNvSpPr txBox="1"/>
          <p:nvPr/>
        </p:nvSpPr>
        <p:spPr>
          <a:xfrm>
            <a:off x="828715" y="793077"/>
            <a:ext cx="10721813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mk_rot_mtrx.m</a:t>
            </a:r>
          </a:p>
          <a:p>
            <a:pPr>
              <a:spcAft>
                <a:spcPts val="600"/>
              </a:spcAft>
            </a:pPr>
            <a:r>
              <a:rPr lang="en-US" dirty="0"/>
              <a:t>Steps: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Select a 16-bit natural image from, for example, </a:t>
            </a:r>
            <a:r>
              <a:rPr lang="en-US" b="1" dirty="0"/>
              <a:t>'\CPS Set-9-10-12_16-bit linear’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double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Normalize all three channels by a single constant so that the max of the three channels to 255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Randomly sample 64 x 64 patches (1</a:t>
            </a:r>
            <a:r>
              <a:rPr lang="en-US" baseline="30000" dirty="0"/>
              <a:t>o</a:t>
            </a:r>
            <a:r>
              <a:rPr lang="en-US" dirty="0"/>
              <a:t> x 1</a:t>
            </a:r>
            <a:r>
              <a:rPr lang="en-US" baseline="30000" dirty="0"/>
              <a:t>o</a:t>
            </a:r>
            <a:r>
              <a:rPr lang="en-US" dirty="0"/>
              <a:t>) from each image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Normalize each patch to have an average mean across the 3 channels of value of 128  (</a:t>
            </a:r>
            <a:r>
              <a:rPr lang="en-US" b="1" dirty="0" err="1"/>
              <a:t>ptch_norm.m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Compile a long list of LMS pixel values by applying steps 1-7 to many images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Apply PCA to this list to obtain the transform (coefficients) to ABR space (</a:t>
            </a:r>
            <a:r>
              <a:rPr lang="en-US" b="1" dirty="0" err="1"/>
              <a:t>pca.m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Save the transformation matrix (</a:t>
            </a:r>
            <a:r>
              <a:rPr lang="en-US" b="1" dirty="0"/>
              <a:t>PCA_matrix_3_OTF.mat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482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6BC3B-E470-32BC-1BFD-F312FC13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3E4E5B-D0AA-3B10-D368-A4DBC9B1B31D}"/>
              </a:ext>
            </a:extLst>
          </p:cNvPr>
          <p:cNvSpPr txBox="1"/>
          <p:nvPr/>
        </p:nvSpPr>
        <p:spPr>
          <a:xfrm>
            <a:off x="189947" y="199616"/>
            <a:ext cx="11921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Texture discrimination: learn </a:t>
            </a:r>
            <a:r>
              <a:rPr lang="en-US" sz="2400" b="1" dirty="0" err="1"/>
              <a:t>cdfs</a:t>
            </a:r>
            <a:r>
              <a:rPr lang="en-US" sz="2400" b="1" dirty="0"/>
              <a:t> for task-independent features from natural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7CD80-9131-C6F1-BF92-1BE366024B68}"/>
              </a:ext>
            </a:extLst>
          </p:cNvPr>
          <p:cNvSpPr txBox="1"/>
          <p:nvPr/>
        </p:nvSpPr>
        <p:spPr>
          <a:xfrm>
            <a:off x="842382" y="785880"/>
            <a:ext cx="1116323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cdfs_of_features.m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Select a 16-bit natural image from, for example, </a:t>
            </a:r>
            <a:r>
              <a:rPr lang="en-US" b="1" dirty="0"/>
              <a:t>'\CPS Set-9-10-12_16-bit linear’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double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Normalize all three channels by a single constant so that the max of the three channels is 255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Randomly sample 64 x 64 patches (1</a:t>
            </a:r>
            <a:r>
              <a:rPr lang="en-US" baseline="30000" dirty="0"/>
              <a:t>o</a:t>
            </a:r>
            <a:r>
              <a:rPr lang="en-US" dirty="0"/>
              <a:t> x 1</a:t>
            </a:r>
            <a:r>
              <a:rPr lang="en-US" baseline="30000" dirty="0"/>
              <a:t>o</a:t>
            </a:r>
            <a:r>
              <a:rPr lang="en-US" dirty="0"/>
              <a:t>) from each image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Normalize each patch to have an average mean across the 3 channels of value of 128  (</a:t>
            </a:r>
            <a:r>
              <a:rPr lang="en-US" b="1" dirty="0" err="1"/>
              <a:t>ptch_norm.m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Transform to ABR space (</a:t>
            </a:r>
            <a:r>
              <a:rPr lang="en-US" b="1" dirty="0" err="1"/>
              <a:t>rot.m</a:t>
            </a:r>
            <a:r>
              <a:rPr lang="en-US" dirty="0"/>
              <a:t>), save </a:t>
            </a:r>
            <a:r>
              <a:rPr lang="en-US" dirty="0" err="1"/>
              <a:t>abr</a:t>
            </a:r>
            <a:r>
              <a:rPr lang="en-US" dirty="0"/>
              <a:t> values for color </a:t>
            </a:r>
            <a:r>
              <a:rPr lang="en-US" dirty="0" err="1"/>
              <a:t>cdfs</a:t>
            </a:r>
            <a:endParaRPr lang="en-US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Select the A channel, contrast normalize to 0.25 (</a:t>
            </a:r>
            <a:r>
              <a:rPr lang="en-US" b="1" dirty="0" err="1"/>
              <a:t>cntrst_norm.m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Apply local spatial feature kernels (</a:t>
            </a:r>
            <a:r>
              <a:rPr lang="en-US" b="1" dirty="0" err="1"/>
              <a:t>imgrad.m</a:t>
            </a:r>
            <a:r>
              <a:rPr lang="en-US" dirty="0"/>
              <a:t>, </a:t>
            </a:r>
            <a:r>
              <a:rPr lang="en-US" b="1" dirty="0"/>
              <a:t>imgrad2.m</a:t>
            </a:r>
            <a:r>
              <a:rPr lang="en-US" dirty="0"/>
              <a:t>, </a:t>
            </a:r>
            <a:r>
              <a:rPr lang="en-US" b="1" dirty="0" err="1"/>
              <a:t>cen_sur.m</a:t>
            </a:r>
            <a:r>
              <a:rPr lang="en-US" dirty="0"/>
              <a:t>), save values for getting spatial </a:t>
            </a:r>
            <a:r>
              <a:rPr lang="en-US" dirty="0" err="1"/>
              <a:t>cdfs</a:t>
            </a:r>
            <a:endParaRPr lang="en-US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Repeat from step 1 until all natural images are processed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Compute </a:t>
            </a:r>
            <a:r>
              <a:rPr lang="en-US" dirty="0" err="1"/>
              <a:t>cdfs</a:t>
            </a:r>
            <a:r>
              <a:rPr lang="en-US" dirty="0"/>
              <a:t> (</a:t>
            </a:r>
            <a:r>
              <a:rPr lang="en-US" b="1" dirty="0" err="1"/>
              <a:t>histcnts.m</a:t>
            </a:r>
            <a:r>
              <a:rPr lang="en-US" dirty="0"/>
              <a:t>), save </a:t>
            </a:r>
            <a:r>
              <a:rPr lang="en-US" dirty="0" err="1"/>
              <a:t>cdfs</a:t>
            </a:r>
            <a:r>
              <a:rPr lang="en-US" dirty="0"/>
              <a:t> and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849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140EA-BE78-5700-636B-CB7BE53C635C}"/>
              </a:ext>
            </a:extLst>
          </p:cNvPr>
          <p:cNvSpPr txBox="1"/>
          <p:nvPr/>
        </p:nvSpPr>
        <p:spPr>
          <a:xfrm>
            <a:off x="1612344" y="1828439"/>
            <a:ext cx="9222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Training Task Dependent Features with Natural Images</a:t>
            </a:r>
          </a:p>
        </p:txBody>
      </p:sp>
    </p:spTree>
    <p:extLst>
      <p:ext uri="{BB962C8B-B14F-4D97-AF65-F5344CB8AC3E}">
        <p14:creationId xmlns:p14="http://schemas.microsoft.com/office/powerpoint/2010/main" val="20370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0255-6F22-C05F-448F-AC1621C0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87380-3E03-2760-5F1D-522B62DABF3A}"/>
              </a:ext>
            </a:extLst>
          </p:cNvPr>
          <p:cNvSpPr txBox="1"/>
          <p:nvPr/>
        </p:nvSpPr>
        <p:spPr>
          <a:xfrm>
            <a:off x="1809141" y="227969"/>
            <a:ext cx="86362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discrimination: get natural image patches for training</a:t>
            </a:r>
          </a:p>
          <a:p>
            <a:pPr algn="ctr"/>
            <a:r>
              <a:rPr lang="en-US" sz="2400" b="1" dirty="0"/>
              <a:t>(proximity proxy)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A1676-4C37-4281-93ED-A838AFA5D52D}"/>
              </a:ext>
            </a:extLst>
          </p:cNvPr>
          <p:cNvSpPr txBox="1"/>
          <p:nvPr/>
        </p:nvSpPr>
        <p:spPr>
          <a:xfrm>
            <a:off x="805977" y="1368246"/>
            <a:ext cx="11176387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nat_near_far_patches.m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,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natural images; convert to double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), down sample for given eccentricity/[lev = 1,2,4,8] (</a:t>
            </a:r>
            <a:r>
              <a:rPr lang="en-US" b="1" dirty="0" err="1"/>
              <a:t>dsmp.m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Random sample reference patches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each reference patch form two near pairs and two far pairs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Do this for all image sets, e.g.,  Set9_16_num.png  num = 1:nimg9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Save patch pairs for each image set and desired eccentricity/lev (e.g., </a:t>
            </a:r>
            <a:r>
              <a:rPr lang="en-US" b="1" dirty="0"/>
              <a:t>‘patch_pairs_91lev.mat’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813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9604-E199-2F85-757A-BE5D2174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13F21B-FF76-5D10-FA8E-427550AAE4AB}"/>
              </a:ext>
            </a:extLst>
          </p:cNvPr>
          <p:cNvSpPr txBox="1"/>
          <p:nvPr/>
        </p:nvSpPr>
        <p:spPr>
          <a:xfrm>
            <a:off x="333655" y="227969"/>
            <a:ext cx="11587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discrimination: learn bins for task-dependent features from natural images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95DC1D-499E-29C9-B620-94D4FD66D7AE}"/>
              </a:ext>
            </a:extLst>
          </p:cNvPr>
          <p:cNvSpPr txBox="1"/>
          <p:nvPr/>
        </p:nvSpPr>
        <p:spPr>
          <a:xfrm>
            <a:off x="829225" y="779310"/>
            <a:ext cx="1094864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opt_bins_nat.m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 and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near-far natural image patches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Use the </a:t>
            </a:r>
            <a:r>
              <a:rPr lang="en-US" dirty="0" err="1"/>
              <a:t>cdf</a:t>
            </a:r>
            <a:r>
              <a:rPr lang="en-US" dirty="0"/>
              <a:t> parameters to get the initial bin bounds; e.g., 2 bins = 3 bounds (</a:t>
            </a:r>
            <a:r>
              <a:rPr lang="en-US" b="1" dirty="0" err="1"/>
              <a:t>mk_bins.m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Find the next bin bound to test (</a:t>
            </a:r>
            <a:r>
              <a:rPr lang="en-US" b="1" dirty="0" err="1"/>
              <a:t>find_bnd.m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Test the bin bounds including the new bound (</a:t>
            </a:r>
            <a:r>
              <a:rPr lang="en-US" b="1" dirty="0" err="1"/>
              <a:t>test_bnds_nat.m</a:t>
            </a:r>
            <a:r>
              <a:rPr lang="en-US" dirty="0"/>
              <a:t>), keep if accuracy exceeds criterion increment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Repeat from step 4 until there are no more bins splits that improve accuracy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Save adaptive histogram equalization (</a:t>
            </a:r>
            <a:r>
              <a:rPr lang="en-US" b="1" dirty="0"/>
              <a:t>‘AHEO’</a:t>
            </a:r>
            <a:r>
              <a:rPr lang="en-US" dirty="0"/>
              <a:t>) bounds (num1 = </a:t>
            </a:r>
            <a:r>
              <a:rPr lang="en-US" dirty="0" err="1"/>
              <a:t>btype</a:t>
            </a:r>
            <a:r>
              <a:rPr lang="en-US" dirty="0"/>
              <a:t>, num2 = dim, num3 = lev)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Can also test and save standard histogram equalization (</a:t>
            </a:r>
            <a:r>
              <a:rPr lang="en-US" b="1" dirty="0"/>
              <a:t>‘HEO’</a:t>
            </a:r>
            <a:r>
              <a:rPr lang="en-US" dirty="0"/>
              <a:t>) bounds</a:t>
            </a:r>
          </a:p>
        </p:txBody>
      </p:sp>
    </p:spTree>
    <p:extLst>
      <p:ext uri="{BB962C8B-B14F-4D97-AF65-F5344CB8AC3E}">
        <p14:creationId xmlns:p14="http://schemas.microsoft.com/office/powerpoint/2010/main" val="271543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69F9-64E3-0BA5-B999-2D5D945C6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1519E-EB05-A3D0-B063-C3B463BEC11D}"/>
              </a:ext>
            </a:extLst>
          </p:cNvPr>
          <p:cNvSpPr txBox="1"/>
          <p:nvPr/>
        </p:nvSpPr>
        <p:spPr>
          <a:xfrm>
            <a:off x="1210429" y="227969"/>
            <a:ext cx="98337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discrimination: train near-far decision variables and bounds 2</a:t>
            </a:r>
          </a:p>
          <a:p>
            <a:pPr algn="ctr"/>
            <a:r>
              <a:rPr lang="en-US" sz="2400" b="1" dirty="0"/>
              <a:t>(proximity proxy)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AE377-A789-9BF3-8FF3-002BDD15B84A}"/>
              </a:ext>
            </a:extLst>
          </p:cNvPr>
          <p:cNvSpPr txBox="1"/>
          <p:nvPr/>
        </p:nvSpPr>
        <p:spPr>
          <a:xfrm>
            <a:off x="542441" y="1135771"/>
            <a:ext cx="11439923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nat_near_far_dv_2.m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,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Set level (lev), set bin type (b)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Load patch pairs for each image dataset (e.g., </a:t>
            </a:r>
            <a:r>
              <a:rPr lang="en-US" b="1" dirty="0"/>
              <a:t>‘patch_pairs_91lev.mat’</a:t>
            </a:r>
            <a:r>
              <a:rPr lang="en-US" dirty="0"/>
              <a:t>) and combine into near and far arrays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Normalize each patch to have an average mean across the 3 channels of value of 128  (</a:t>
            </a:r>
            <a:r>
              <a:rPr lang="en-US" b="1" dirty="0" err="1"/>
              <a:t>ptch_norm.m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Transform to ABR space (</a:t>
            </a:r>
            <a:r>
              <a:rPr lang="en-US" b="1" dirty="0" err="1"/>
              <a:t>rot.m</a:t>
            </a:r>
            <a:r>
              <a:rPr lang="en-US" dirty="0"/>
              <a:t>), same </a:t>
            </a:r>
            <a:r>
              <a:rPr lang="en-US" dirty="0" err="1"/>
              <a:t>abr</a:t>
            </a:r>
            <a:r>
              <a:rPr lang="en-US" dirty="0"/>
              <a:t> values for color </a:t>
            </a:r>
            <a:r>
              <a:rPr lang="en-US" dirty="0" err="1"/>
              <a:t>cdfs</a:t>
            </a:r>
            <a:r>
              <a:rPr lang="en-US" dirty="0"/>
              <a:t>, use A channel only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Load bin bounds for spot and edge features (</a:t>
            </a:r>
            <a:r>
              <a:rPr lang="en-US" b="1" dirty="0" err="1"/>
              <a:t>mk_bb.m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Compute, power and spot DVs (</a:t>
            </a:r>
            <a:r>
              <a:rPr lang="en-US" b="1" dirty="0" err="1"/>
              <a:t>Rp.m</a:t>
            </a:r>
            <a:r>
              <a:rPr lang="en-US" b="1" dirty="0"/>
              <a:t>, </a:t>
            </a:r>
            <a:r>
              <a:rPr lang="en-US" b="1" dirty="0" err="1"/>
              <a:t>Rh.m</a:t>
            </a:r>
            <a:r>
              <a:rPr lang="en-US" dirty="0"/>
              <a:t>), </a:t>
            </a:r>
            <a:r>
              <a:rPr lang="en-US" dirty="0" err="1"/>
              <a:t>Rp.m</a:t>
            </a:r>
            <a:r>
              <a:rPr lang="en-US" dirty="0"/>
              <a:t> contrast normalizes and </a:t>
            </a:r>
            <a:r>
              <a:rPr lang="en-US" dirty="0" err="1"/>
              <a:t>Rh.m</a:t>
            </a:r>
            <a:r>
              <a:rPr lang="en-US" dirty="0"/>
              <a:t> does for center-surround </a:t>
            </a:r>
            <a:r>
              <a:rPr lang="en-US" dirty="0" err="1"/>
              <a:t>rfs</a:t>
            </a:r>
            <a:endParaRPr lang="en-US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Contrast normalization (</a:t>
            </a:r>
            <a:r>
              <a:rPr lang="en-US" b="1" dirty="0" err="1"/>
              <a:t>cntrst_norm.m</a:t>
            </a:r>
            <a:r>
              <a:rPr lang="en-US" dirty="0"/>
              <a:t>)  and compute, edge DVs (</a:t>
            </a:r>
            <a:r>
              <a:rPr lang="en-US" b="1" dirty="0" err="1"/>
              <a:t>Re.m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Train spot decision variable (</a:t>
            </a:r>
            <a:r>
              <a:rPr lang="en-US" b="1" dirty="0" err="1"/>
              <a:t>classify_normals.m</a:t>
            </a:r>
            <a:r>
              <a:rPr lang="en-US" dirty="0"/>
              <a:t>), save dv coefficients (</a:t>
            </a:r>
            <a:r>
              <a:rPr lang="en-US" b="1" dirty="0"/>
              <a:t>‘</a:t>
            </a:r>
            <a:r>
              <a:rPr lang="en-US" b="1" dirty="0" err="1"/>
              <a:t>dbndhNOlev.mat</a:t>
            </a:r>
            <a:r>
              <a:rPr lang="en-US" b="1" dirty="0"/>
              <a:t>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Train edge decision variable (</a:t>
            </a:r>
            <a:r>
              <a:rPr lang="en-US" b="1" dirty="0" err="1"/>
              <a:t>classify_normals.m</a:t>
            </a:r>
            <a:r>
              <a:rPr lang="en-US" dirty="0"/>
              <a:t>), save dv coefficients (</a:t>
            </a:r>
            <a:r>
              <a:rPr lang="en-US" b="1" dirty="0"/>
              <a:t>‘</a:t>
            </a:r>
            <a:r>
              <a:rPr lang="en-US" b="1" dirty="0" err="1"/>
              <a:t>dbndeNOlev.mat</a:t>
            </a:r>
            <a:r>
              <a:rPr lang="en-US" b="1" dirty="0"/>
              <a:t>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Train content decision variable (</a:t>
            </a:r>
            <a:r>
              <a:rPr lang="en-US" b="1" dirty="0" err="1"/>
              <a:t>classify_normals.m</a:t>
            </a:r>
            <a:r>
              <a:rPr lang="en-US" dirty="0"/>
              <a:t>), save dv coefficients (</a:t>
            </a:r>
            <a:r>
              <a:rPr lang="en-US" b="1" dirty="0"/>
              <a:t>‘</a:t>
            </a:r>
            <a:r>
              <a:rPr lang="en-US" b="1" dirty="0" err="1"/>
              <a:t>dbndcNOlev.mat</a:t>
            </a:r>
            <a:r>
              <a:rPr lang="en-US" b="1" dirty="0"/>
              <a:t>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Train border decision variable (</a:t>
            </a:r>
            <a:r>
              <a:rPr lang="en-US" b="1" dirty="0" err="1"/>
              <a:t>classify_normals.m</a:t>
            </a:r>
            <a:r>
              <a:rPr lang="en-US" dirty="0"/>
              <a:t>), save dv coefficients (</a:t>
            </a:r>
            <a:r>
              <a:rPr lang="en-US" b="1" dirty="0"/>
              <a:t>‘</a:t>
            </a:r>
            <a:r>
              <a:rPr lang="en-US" b="1" dirty="0" err="1"/>
              <a:t>dbndbNOlev.mat</a:t>
            </a:r>
            <a:r>
              <a:rPr lang="en-US" b="1" dirty="0"/>
              <a:t>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Train border &amp; content decision variable (</a:t>
            </a:r>
            <a:r>
              <a:rPr lang="en-US" b="1" dirty="0" err="1"/>
              <a:t>classify_normals.m</a:t>
            </a:r>
            <a:r>
              <a:rPr lang="en-US" dirty="0"/>
              <a:t>), save dv coefficients (</a:t>
            </a:r>
            <a:r>
              <a:rPr lang="en-US" b="1" dirty="0"/>
              <a:t>‘</a:t>
            </a:r>
            <a:r>
              <a:rPr lang="en-US" b="1" dirty="0" err="1"/>
              <a:t>dbndbcNOlev.mat</a:t>
            </a:r>
            <a:r>
              <a:rPr lang="en-US" b="1" dirty="0"/>
              <a:t>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412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C3445-BADE-2AE2-EE62-29169866139E}"/>
              </a:ext>
            </a:extLst>
          </p:cNvPr>
          <p:cNvSpPr txBox="1"/>
          <p:nvPr/>
        </p:nvSpPr>
        <p:spPr>
          <a:xfrm>
            <a:off x="2351314" y="1989573"/>
            <a:ext cx="442750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</a:t>
            </a:r>
          </a:p>
          <a:p>
            <a:pPr>
              <a:spcAft>
                <a:spcPts val="600"/>
              </a:spcAft>
            </a:pP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r>
              <a:rPr lang="en-US" dirty="0"/>
              <a:t>S</a:t>
            </a:r>
            <a:r>
              <a:rPr lang="en-US" baseline="-25000" dirty="0"/>
              <a:t>2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E</a:t>
            </a:r>
            <a:r>
              <a:rPr lang="en-US" baseline="-25000" dirty="0"/>
              <a:t>1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E</a:t>
            </a:r>
            <a:r>
              <a:rPr lang="en-US" baseline="-25000" dirty="0"/>
              <a:t>2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E</a:t>
            </a:r>
            <a:r>
              <a:rPr lang="en-US" baseline="-25000" dirty="0"/>
              <a:t>3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P</a:t>
            </a:r>
          </a:p>
          <a:p>
            <a:pPr>
              <a:spcAft>
                <a:spcPts val="600"/>
              </a:spcAft>
            </a:pPr>
            <a:r>
              <a:rPr lang="en-US" dirty="0"/>
              <a:t>B</a:t>
            </a:r>
            <a:r>
              <a:rPr lang="en-US" baseline="-25000" dirty="0"/>
              <a:t>1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B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D076A-E590-4705-DE9F-E38260807AF9}"/>
              </a:ext>
            </a:extLst>
          </p:cNvPr>
          <p:cNvSpPr txBox="1"/>
          <p:nvPr/>
        </p:nvSpPr>
        <p:spPr>
          <a:xfrm>
            <a:off x="1813093" y="1066243"/>
            <a:ext cx="1519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Independent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D724E-2D12-40C0-4F50-640AB83A7DE9}"/>
              </a:ext>
            </a:extLst>
          </p:cNvPr>
          <p:cNvSpPr txBox="1"/>
          <p:nvPr/>
        </p:nvSpPr>
        <p:spPr>
          <a:xfrm>
            <a:off x="3608399" y="1057313"/>
            <a:ext cx="1395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Specific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3E64B-1863-1CB7-C01E-1F4B7408DE9D}"/>
              </a:ext>
            </a:extLst>
          </p:cNvPr>
          <p:cNvSpPr txBox="1"/>
          <p:nvPr/>
        </p:nvSpPr>
        <p:spPr>
          <a:xfrm>
            <a:off x="4084864" y="1989573"/>
            <a:ext cx="686535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A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S1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S2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E1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E3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E3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P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B1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B2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65504-2CA9-BB3D-D4B8-AC655B750A84}"/>
              </a:ext>
            </a:extLst>
          </p:cNvPr>
          <p:cNvSpPr txBox="1"/>
          <p:nvPr/>
        </p:nvSpPr>
        <p:spPr>
          <a:xfrm>
            <a:off x="5306151" y="1066243"/>
            <a:ext cx="1268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Spot, Edge &amp; Power DV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6E0A1-B954-1BAB-D74C-269F3E1136AE}"/>
              </a:ext>
            </a:extLst>
          </p:cNvPr>
          <p:cNvSpPr txBox="1"/>
          <p:nvPr/>
        </p:nvSpPr>
        <p:spPr>
          <a:xfrm>
            <a:off x="5656266" y="2381459"/>
            <a:ext cx="563359" cy="21390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S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D1AC7B-7E1C-C9EB-3568-B918784F43CC}"/>
              </a:ext>
            </a:extLst>
          </p:cNvPr>
          <p:cNvCxnSpPr>
            <a:cxnSpLocks/>
          </p:cNvCxnSpPr>
          <p:nvPr/>
        </p:nvCxnSpPr>
        <p:spPr>
          <a:xfrm>
            <a:off x="2748223" y="2185516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673F27-44D4-18BA-625F-02AF1498F7BE}"/>
              </a:ext>
            </a:extLst>
          </p:cNvPr>
          <p:cNvCxnSpPr>
            <a:cxnSpLocks/>
          </p:cNvCxnSpPr>
          <p:nvPr/>
        </p:nvCxnSpPr>
        <p:spPr>
          <a:xfrm>
            <a:off x="4642338" y="2185516"/>
            <a:ext cx="1055076" cy="37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D60E04-53AC-D92C-2155-E7FA696B0225}"/>
              </a:ext>
            </a:extLst>
          </p:cNvPr>
          <p:cNvCxnSpPr/>
          <p:nvPr/>
        </p:nvCxnSpPr>
        <p:spPr>
          <a:xfrm>
            <a:off x="4717700" y="2562329"/>
            <a:ext cx="979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3794BD-04E4-7203-94D1-32B961737248}"/>
              </a:ext>
            </a:extLst>
          </p:cNvPr>
          <p:cNvCxnSpPr/>
          <p:nvPr/>
        </p:nvCxnSpPr>
        <p:spPr>
          <a:xfrm flipV="1">
            <a:off x="4717700" y="2562329"/>
            <a:ext cx="979714" cy="346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35E183-8AAE-DF5E-51EC-579EE6FC14F8}"/>
              </a:ext>
            </a:extLst>
          </p:cNvPr>
          <p:cNvCxnSpPr>
            <a:cxnSpLocks/>
          </p:cNvCxnSpPr>
          <p:nvPr/>
        </p:nvCxnSpPr>
        <p:spPr>
          <a:xfrm>
            <a:off x="4663057" y="3283268"/>
            <a:ext cx="1055076" cy="37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3146FC-E0CC-CB01-CC51-91426F7170F4}"/>
              </a:ext>
            </a:extLst>
          </p:cNvPr>
          <p:cNvCxnSpPr>
            <a:cxnSpLocks/>
          </p:cNvCxnSpPr>
          <p:nvPr/>
        </p:nvCxnSpPr>
        <p:spPr>
          <a:xfrm flipV="1">
            <a:off x="4691232" y="3660081"/>
            <a:ext cx="1026901" cy="330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F917DC-31AD-4986-3ABB-53B19E92EA6A}"/>
              </a:ext>
            </a:extLst>
          </p:cNvPr>
          <p:cNvCxnSpPr/>
          <p:nvPr/>
        </p:nvCxnSpPr>
        <p:spPr>
          <a:xfrm>
            <a:off x="4717700" y="3617406"/>
            <a:ext cx="979714" cy="4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660CA9-3FB7-DBE0-4559-99F41A0746EA}"/>
              </a:ext>
            </a:extLst>
          </p:cNvPr>
          <p:cNvCxnSpPr/>
          <p:nvPr/>
        </p:nvCxnSpPr>
        <p:spPr>
          <a:xfrm>
            <a:off x="4663057" y="4292914"/>
            <a:ext cx="979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BCD320-DD10-9A0E-E235-476DF392DF50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4727289" y="4581246"/>
            <a:ext cx="2509059" cy="179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D277FF-E54D-2010-59C4-C0C1E70FDDED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4730164" y="4760887"/>
            <a:ext cx="2506184" cy="218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D3C5660-381F-57B0-9112-7FBFDE130B18}"/>
              </a:ext>
            </a:extLst>
          </p:cNvPr>
          <p:cNvSpPr txBox="1"/>
          <p:nvPr/>
        </p:nvSpPr>
        <p:spPr>
          <a:xfrm>
            <a:off x="8243211" y="1066243"/>
            <a:ext cx="1268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Separated &amp; Joined</a:t>
            </a:r>
          </a:p>
          <a:p>
            <a:pPr algn="ctr"/>
            <a:r>
              <a:rPr lang="en-US" dirty="0"/>
              <a:t> DV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D3547E-6C7F-DBB0-7DB7-C8FEFA2028C8}"/>
              </a:ext>
            </a:extLst>
          </p:cNvPr>
          <p:cNvSpPr txBox="1"/>
          <p:nvPr/>
        </p:nvSpPr>
        <p:spPr>
          <a:xfrm>
            <a:off x="7203566" y="3495723"/>
            <a:ext cx="608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351E5C-2A38-1FFB-95B1-DE6AB6A576A2}"/>
              </a:ext>
            </a:extLst>
          </p:cNvPr>
          <p:cNvSpPr txBox="1"/>
          <p:nvPr/>
        </p:nvSpPr>
        <p:spPr>
          <a:xfrm>
            <a:off x="7236348" y="4576221"/>
            <a:ext cx="568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B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714BEE1-0DD1-A2E6-254C-08C04DEFF467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6181569" y="2608933"/>
            <a:ext cx="1021997" cy="1071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928735-B36B-010D-6715-8E72A658BB7D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146401" y="3680389"/>
            <a:ext cx="1057165" cy="12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63471FC-89A1-3865-E70A-B3076D4EA5D6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233120" y="3680389"/>
            <a:ext cx="970446" cy="619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7EDF251-57BC-5549-81E3-0672C0B09202}"/>
              </a:ext>
            </a:extLst>
          </p:cNvPr>
          <p:cNvSpPr txBox="1"/>
          <p:nvPr/>
        </p:nvSpPr>
        <p:spPr>
          <a:xfrm>
            <a:off x="6918776" y="1066243"/>
            <a:ext cx="1178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Content &amp; Border</a:t>
            </a:r>
          </a:p>
          <a:p>
            <a:pPr algn="ctr"/>
            <a:r>
              <a:rPr lang="en-US" dirty="0"/>
              <a:t> DV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FCE5C0-EFED-6654-5871-25047DAC8ED9}"/>
              </a:ext>
            </a:extLst>
          </p:cNvPr>
          <p:cNvSpPr txBox="1"/>
          <p:nvPr/>
        </p:nvSpPr>
        <p:spPr>
          <a:xfrm>
            <a:off x="8593327" y="3470814"/>
            <a:ext cx="64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44A4F7-CCC8-A38B-31E3-82AFC45E8089}"/>
              </a:ext>
            </a:extLst>
          </p:cNvPr>
          <p:cNvSpPr txBox="1"/>
          <p:nvPr/>
        </p:nvSpPr>
        <p:spPr>
          <a:xfrm>
            <a:off x="8593327" y="4224048"/>
            <a:ext cx="568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J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4D11E1B-4466-FFE6-C774-6B1A9924EC3C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7706906" y="3655480"/>
            <a:ext cx="886421" cy="22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487D9E3-4438-6EAB-A9B3-E6B16F4D81C0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7701301" y="3676214"/>
            <a:ext cx="892026" cy="73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D1DD9C3-A4FE-966C-D174-9FBFADEBDF77}"/>
              </a:ext>
            </a:extLst>
          </p:cNvPr>
          <p:cNvCxnSpPr>
            <a:cxnSpLocks/>
            <a:stCxn id="35" idx="3"/>
            <a:endCxn id="50" idx="1"/>
          </p:cNvCxnSpPr>
          <p:nvPr/>
        </p:nvCxnSpPr>
        <p:spPr>
          <a:xfrm flipV="1">
            <a:off x="7804517" y="4408714"/>
            <a:ext cx="788810" cy="35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7C29587-196F-E603-7C07-A1D75331538E}"/>
              </a:ext>
            </a:extLst>
          </p:cNvPr>
          <p:cNvCxnSpPr>
            <a:cxnSpLocks/>
          </p:cNvCxnSpPr>
          <p:nvPr/>
        </p:nvCxnSpPr>
        <p:spPr>
          <a:xfrm>
            <a:off x="2748223" y="2536749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2C345F5-5BF2-8678-59A2-A4D86A2784A6}"/>
              </a:ext>
            </a:extLst>
          </p:cNvPr>
          <p:cNvCxnSpPr>
            <a:cxnSpLocks/>
          </p:cNvCxnSpPr>
          <p:nvPr/>
        </p:nvCxnSpPr>
        <p:spPr>
          <a:xfrm>
            <a:off x="2748223" y="2887982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4360AB0-B3D9-D1B5-14D1-8BDC3FA1CBE0}"/>
              </a:ext>
            </a:extLst>
          </p:cNvPr>
          <p:cNvCxnSpPr>
            <a:cxnSpLocks/>
          </p:cNvCxnSpPr>
          <p:nvPr/>
        </p:nvCxnSpPr>
        <p:spPr>
          <a:xfrm>
            <a:off x="2748223" y="3239215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8D272C6-F437-25F9-BC08-C771DF06A0CD}"/>
              </a:ext>
            </a:extLst>
          </p:cNvPr>
          <p:cNvCxnSpPr>
            <a:cxnSpLocks/>
          </p:cNvCxnSpPr>
          <p:nvPr/>
        </p:nvCxnSpPr>
        <p:spPr>
          <a:xfrm>
            <a:off x="2748223" y="3590448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A847C86-121B-FDE0-DB1B-7DD028EBE64E}"/>
              </a:ext>
            </a:extLst>
          </p:cNvPr>
          <p:cNvCxnSpPr>
            <a:cxnSpLocks/>
          </p:cNvCxnSpPr>
          <p:nvPr/>
        </p:nvCxnSpPr>
        <p:spPr>
          <a:xfrm>
            <a:off x="2748223" y="3941681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359724C-CED8-4EE1-ED1C-E9905CFFA682}"/>
              </a:ext>
            </a:extLst>
          </p:cNvPr>
          <p:cNvCxnSpPr>
            <a:cxnSpLocks/>
          </p:cNvCxnSpPr>
          <p:nvPr/>
        </p:nvCxnSpPr>
        <p:spPr>
          <a:xfrm>
            <a:off x="2748223" y="4292914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E3331F-2582-69F9-93C8-03CA6C4EC761}"/>
              </a:ext>
            </a:extLst>
          </p:cNvPr>
          <p:cNvCxnSpPr>
            <a:cxnSpLocks/>
          </p:cNvCxnSpPr>
          <p:nvPr/>
        </p:nvCxnSpPr>
        <p:spPr>
          <a:xfrm>
            <a:off x="2748223" y="4644147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2959B7D-2D65-21FC-64E9-8FE921A64D83}"/>
              </a:ext>
            </a:extLst>
          </p:cNvPr>
          <p:cNvCxnSpPr>
            <a:cxnSpLocks/>
          </p:cNvCxnSpPr>
          <p:nvPr/>
        </p:nvCxnSpPr>
        <p:spPr>
          <a:xfrm>
            <a:off x="2748223" y="4995380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96D501F-D50A-5026-C93B-537D3A27A5E1}"/>
              </a:ext>
            </a:extLst>
          </p:cNvPr>
          <p:cNvSpPr txBox="1"/>
          <p:nvPr/>
        </p:nvSpPr>
        <p:spPr>
          <a:xfrm>
            <a:off x="380205" y="1989573"/>
            <a:ext cx="1521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Achromatic pixel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4A39A3-44BA-F26A-FA0B-E6138564E5DD}"/>
              </a:ext>
            </a:extLst>
          </p:cNvPr>
          <p:cNvSpPr txBox="1"/>
          <p:nvPr/>
        </p:nvSpPr>
        <p:spPr>
          <a:xfrm>
            <a:off x="380205" y="2382860"/>
            <a:ext cx="193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Center-surround small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AF4840-902C-A15A-4E34-7B4D6006FEA2}"/>
              </a:ext>
            </a:extLst>
          </p:cNvPr>
          <p:cNvSpPr txBox="1"/>
          <p:nvPr/>
        </p:nvSpPr>
        <p:spPr>
          <a:xfrm>
            <a:off x="380205" y="2735663"/>
            <a:ext cx="1887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Center-surround large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8734B8-7DD2-D905-F9ED-DB19AE956F88}"/>
              </a:ext>
            </a:extLst>
          </p:cNvPr>
          <p:cNvSpPr txBox="1"/>
          <p:nvPr/>
        </p:nvSpPr>
        <p:spPr>
          <a:xfrm>
            <a:off x="380205" y="3083005"/>
            <a:ext cx="2033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baseline="30000" dirty="0"/>
              <a:t>st</a:t>
            </a:r>
            <a:r>
              <a:rPr lang="en-US" sz="1400" dirty="0"/>
              <a:t> derivative magnitude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72AE9D-5165-CDC8-D760-7B80FCA60614}"/>
              </a:ext>
            </a:extLst>
          </p:cNvPr>
          <p:cNvSpPr txBox="1"/>
          <p:nvPr/>
        </p:nvSpPr>
        <p:spPr>
          <a:xfrm>
            <a:off x="380205" y="3431998"/>
            <a:ext cx="2137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baseline="30000" dirty="0"/>
              <a:t>nd</a:t>
            </a:r>
            <a:r>
              <a:rPr lang="en-US" sz="1400" dirty="0"/>
              <a:t> derivative magnitude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5495EB-E039-2497-3B68-FDD33ACA0F6C}"/>
              </a:ext>
            </a:extLst>
          </p:cNvPr>
          <p:cNvSpPr txBox="1"/>
          <p:nvPr/>
        </p:nvSpPr>
        <p:spPr>
          <a:xfrm>
            <a:off x="380205" y="3789716"/>
            <a:ext cx="208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baseline="30000" dirty="0"/>
              <a:t>nd</a:t>
            </a:r>
            <a:r>
              <a:rPr lang="en-US" sz="1400" dirty="0"/>
              <a:t> derivative orientation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231C4A-59FE-4203-73E3-3CBBDCA23D6E}"/>
              </a:ext>
            </a:extLst>
          </p:cNvPr>
          <p:cNvSpPr txBox="1"/>
          <p:nvPr/>
        </p:nvSpPr>
        <p:spPr>
          <a:xfrm>
            <a:off x="380205" y="4142570"/>
            <a:ext cx="1447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spectrum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5AC98A-4670-DEAF-C53A-9D26F792BA17}"/>
              </a:ext>
            </a:extLst>
          </p:cNvPr>
          <p:cNvSpPr txBox="1"/>
          <p:nvPr/>
        </p:nvSpPr>
        <p:spPr>
          <a:xfrm>
            <a:off x="380205" y="4488409"/>
            <a:ext cx="1723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Border edge energy</a:t>
            </a:r>
            <a:r>
              <a:rPr lang="en-US" sz="1400" baseline="30000" dirty="0"/>
              <a:t>*</a:t>
            </a:r>
            <a:endParaRPr lang="en-US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AF8F71-1375-3798-7124-F2D31B977355}"/>
              </a:ext>
            </a:extLst>
          </p:cNvPr>
          <p:cNvSpPr txBox="1"/>
          <p:nvPr/>
        </p:nvSpPr>
        <p:spPr>
          <a:xfrm>
            <a:off x="380205" y="4830311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Off-border edge energy</a:t>
            </a:r>
            <a:r>
              <a:rPr lang="en-US" sz="1400" baseline="30000" dirty="0"/>
              <a:t>*</a:t>
            </a:r>
            <a:endParaRPr lang="en-US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0CA9EF5-0090-EEE0-8A60-721208E3F46D}"/>
              </a:ext>
            </a:extLst>
          </p:cNvPr>
          <p:cNvSpPr txBox="1"/>
          <p:nvPr/>
        </p:nvSpPr>
        <p:spPr>
          <a:xfrm>
            <a:off x="1201450" y="239371"/>
            <a:ext cx="10192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Hierarchical Bayesian Observer (HBO) Model of Texture Discrimination 1</a:t>
            </a:r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330D2F33-2DF9-1ADE-D378-E03E9A32C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721" y="1355540"/>
            <a:ext cx="2187939" cy="2408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402734-483A-1978-AB9A-4B1D6FF95752}"/>
              </a:ext>
            </a:extLst>
          </p:cNvPr>
          <p:cNvSpPr txBox="1"/>
          <p:nvPr/>
        </p:nvSpPr>
        <p:spPr>
          <a:xfrm>
            <a:off x="10630983" y="1339480"/>
            <a:ext cx="1046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Joined task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15FB7-BBF8-2C51-DECD-CB5090829FAC}"/>
              </a:ext>
            </a:extLst>
          </p:cNvPr>
          <p:cNvSpPr txBox="1"/>
          <p:nvPr/>
        </p:nvSpPr>
        <p:spPr>
          <a:xfrm>
            <a:off x="10630049" y="2581774"/>
            <a:ext cx="13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Separated task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75D4B-6C52-3F2F-8D7B-6F1B1188F6BB}"/>
              </a:ext>
            </a:extLst>
          </p:cNvPr>
          <p:cNvSpPr txBox="1"/>
          <p:nvPr/>
        </p:nvSpPr>
        <p:spPr>
          <a:xfrm>
            <a:off x="338904" y="5529004"/>
            <a:ext cx="201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*</a:t>
            </a:r>
            <a:r>
              <a:rPr lang="en-US" sz="1400" dirty="0"/>
              <a:t>uses 1</a:t>
            </a:r>
            <a:r>
              <a:rPr lang="en-US" sz="1400" baseline="30000" dirty="0"/>
              <a:t>st</a:t>
            </a:r>
            <a:r>
              <a:rPr lang="en-US" sz="1400" dirty="0"/>
              <a:t> derivative filter</a:t>
            </a:r>
          </a:p>
        </p:txBody>
      </p:sp>
    </p:spTree>
    <p:extLst>
      <p:ext uri="{BB962C8B-B14F-4D97-AF65-F5344CB8AC3E}">
        <p14:creationId xmlns:p14="http://schemas.microsoft.com/office/powerpoint/2010/main" val="115485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D8EA42-C499-279B-65BB-0C9534CB7317}"/>
              </a:ext>
            </a:extLst>
          </p:cNvPr>
          <p:cNvSpPr txBox="1"/>
          <p:nvPr/>
        </p:nvSpPr>
        <p:spPr>
          <a:xfrm>
            <a:off x="1394519" y="202916"/>
            <a:ext cx="9640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discrimination: single-image self-supervised </a:t>
            </a:r>
            <a:r>
              <a:rPr lang="en-US" sz="2400" b="1" dirty="0" err="1"/>
              <a:t>bc</a:t>
            </a:r>
            <a:r>
              <a:rPr lang="en-US" sz="2400" b="1" dirty="0"/>
              <a:t> DV &amp; bound</a:t>
            </a:r>
          </a:p>
          <a:p>
            <a:pPr algn="ctr"/>
            <a:r>
              <a:rPr lang="en-US" sz="2400" b="1" dirty="0"/>
              <a:t>(proximity proxy)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01282-2C2E-5469-F97B-E95F8B4A664E}"/>
              </a:ext>
            </a:extLst>
          </p:cNvPr>
          <p:cNvSpPr txBox="1"/>
          <p:nvPr/>
        </p:nvSpPr>
        <p:spPr>
          <a:xfrm>
            <a:off x="542441" y="1033913"/>
            <a:ext cx="1143992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self_sup_train_bnd_bc.m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,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Set level (lev), set image type (</a:t>
            </a:r>
            <a:r>
              <a:rPr lang="en-US" dirty="0" err="1"/>
              <a:t>itype</a:t>
            </a:r>
            <a:r>
              <a:rPr lang="en-US" dirty="0"/>
              <a:t>), set bin type (b)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images; convert to double; for compressed images linearize (</a:t>
            </a:r>
            <a:r>
              <a:rPr lang="en-US" b="1" dirty="0" err="1"/>
              <a:t>adobe_expand.m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 err="1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), down sample for given eccentricity/[lev = 1,2,4,8] (</a:t>
            </a:r>
            <a:r>
              <a:rPr lang="en-US" b="1" dirty="0" err="1"/>
              <a:t>dsmp.m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the task-dependent features load the number of bins and bin bounds (</a:t>
            </a:r>
            <a:r>
              <a:rPr lang="en-US" b="1" dirty="0" err="1"/>
              <a:t>mk_bb.m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DV coefficients (</a:t>
            </a:r>
            <a:r>
              <a:rPr lang="en-US" b="1" dirty="0"/>
              <a:t>'</a:t>
            </a:r>
            <a:r>
              <a:rPr lang="en-US" b="1" dirty="0" err="1"/>
              <a:t>dbndhNO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dbndeNO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dbndbNO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dbndcNO</a:t>
            </a:r>
            <a:r>
              <a:rPr lang="en-US" b="1" dirty="0"/>
              <a:t>’ </a:t>
            </a:r>
            <a:r>
              <a:rPr lang="en-US" dirty="0"/>
              <a:t>) and functions (</a:t>
            </a:r>
            <a:r>
              <a:rPr lang="en-US" b="1" dirty="0"/>
              <a:t>quad2fun.m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Generate random texture numbers, masks and maps for all trials in a session (</a:t>
            </a:r>
            <a:r>
              <a:rPr lang="en-US" b="1" dirty="0" err="1"/>
              <a:t>mk_texs.m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mk_masks.m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each trial, make the GTR image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all content similarities and mutual similarities (rho values) for the image (</a:t>
            </a:r>
            <a:r>
              <a:rPr lang="en-US" b="1" dirty="0" err="1"/>
              <a:t>mk_phi.m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Extract and process neighboring patches, normalize ( </a:t>
            </a:r>
            <a:r>
              <a:rPr lang="en-US" b="1" dirty="0" err="1"/>
              <a:t>ptch_norm.m</a:t>
            </a:r>
            <a:r>
              <a:rPr lang="en-US" dirty="0"/>
              <a:t>) and transform to </a:t>
            </a:r>
            <a:r>
              <a:rPr lang="en-US" dirty="0" err="1"/>
              <a:t>abr</a:t>
            </a:r>
            <a:r>
              <a:rPr lang="en-US" dirty="0"/>
              <a:t> space (</a:t>
            </a:r>
            <a:r>
              <a:rPr lang="en-US" b="1" dirty="0" err="1"/>
              <a:t>rot.m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power (</a:t>
            </a:r>
            <a:r>
              <a:rPr lang="en-US" b="1" dirty="0" err="1"/>
              <a:t>Rp.m</a:t>
            </a:r>
            <a:r>
              <a:rPr lang="en-US" dirty="0"/>
              <a:t>), spot (</a:t>
            </a:r>
            <a:r>
              <a:rPr lang="en-US" b="1" dirty="0" err="1"/>
              <a:t>Rh.m</a:t>
            </a:r>
            <a:r>
              <a:rPr lang="en-US" dirty="0"/>
              <a:t>), </a:t>
            </a:r>
            <a:r>
              <a:rPr lang="en-US" b="1" dirty="0" err="1"/>
              <a:t>dvhfun.m</a:t>
            </a:r>
            <a:r>
              <a:rPr lang="en-US" dirty="0"/>
              <a:t>) and edge (</a:t>
            </a:r>
            <a:r>
              <a:rPr lang="en-US" b="1" dirty="0" err="1"/>
              <a:t>Re.m</a:t>
            </a:r>
            <a:r>
              <a:rPr lang="en-US" dirty="0"/>
              <a:t>, </a:t>
            </a:r>
            <a:r>
              <a:rPr lang="en-US" b="1" dirty="0" err="1"/>
              <a:t>dvefun.m</a:t>
            </a:r>
            <a:r>
              <a:rPr lang="en-US" dirty="0"/>
              <a:t>) decision variables (DVs)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border (</a:t>
            </a:r>
            <a:r>
              <a:rPr lang="en-US" b="1" dirty="0" err="1"/>
              <a:t>Rb.m</a:t>
            </a:r>
            <a:r>
              <a:rPr lang="en-US" dirty="0"/>
              <a:t>, </a:t>
            </a:r>
            <a:r>
              <a:rPr lang="en-US" b="1" dirty="0" err="1"/>
              <a:t>dvbfun.m</a:t>
            </a:r>
            <a:r>
              <a:rPr lang="en-US" dirty="0"/>
              <a:t>) and content (</a:t>
            </a:r>
            <a:r>
              <a:rPr lang="en-US" b="1" dirty="0" err="1"/>
              <a:t>dvcfun.m</a:t>
            </a:r>
            <a:r>
              <a:rPr lang="en-US" dirty="0"/>
              <a:t>) DVs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optimal DV and bound for border and content DV for current trial (</a:t>
            </a:r>
            <a:r>
              <a:rPr lang="en-US" b="1" dirty="0" err="1"/>
              <a:t>classify_normals.m</a:t>
            </a:r>
            <a:r>
              <a:rPr lang="en-US" dirty="0"/>
              <a:t>, </a:t>
            </a:r>
            <a:r>
              <a:rPr lang="en-US" b="1" dirty="0"/>
              <a:t>quad2fun.m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005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6F283-B98D-991B-0EE4-98C3203979C8}"/>
              </a:ext>
            </a:extLst>
          </p:cNvPr>
          <p:cNvSpPr txBox="1"/>
          <p:nvPr/>
        </p:nvSpPr>
        <p:spPr>
          <a:xfrm>
            <a:off x="501300" y="490680"/>
            <a:ext cx="1107901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15. Vary mutual similarity weight (</a:t>
            </a:r>
            <a:r>
              <a:rPr lang="en-US" dirty="0" err="1"/>
              <a:t>wm</a:t>
            </a:r>
            <a:r>
              <a:rPr lang="en-US" dirty="0"/>
              <a:t>) and criterion (</a:t>
            </a:r>
            <a:r>
              <a:rPr lang="en-US" dirty="0" err="1"/>
              <a:t>gc</a:t>
            </a:r>
            <a:r>
              <a:rPr lang="en-US" dirty="0"/>
              <a:t>) parameters; note that when j = 1 and k = 1 </a:t>
            </a:r>
            <a:r>
              <a:rPr lang="en-US" dirty="0" err="1"/>
              <a:t>wm</a:t>
            </a:r>
            <a:r>
              <a:rPr lang="en-US" dirty="0"/>
              <a:t> = </a:t>
            </a:r>
            <a:r>
              <a:rPr lang="en-US" dirty="0" err="1"/>
              <a:t>gc</a:t>
            </a:r>
            <a:r>
              <a:rPr lang="en-US" dirty="0"/>
              <a:t> = 0 and hence no mutual similarity cue (</a:t>
            </a:r>
            <a:r>
              <a:rPr lang="en-US" dirty="0" err="1"/>
              <a:t>gc</a:t>
            </a:r>
            <a:r>
              <a:rPr lang="en-US" dirty="0"/>
              <a:t> should be set to zero when </a:t>
            </a:r>
            <a:r>
              <a:rPr lang="en-US" dirty="0" err="1"/>
              <a:t>wm</a:t>
            </a:r>
            <a:r>
              <a:rPr lang="en-US" dirty="0"/>
              <a:t> is zero)</a:t>
            </a:r>
          </a:p>
          <a:p>
            <a:pPr>
              <a:spcAft>
                <a:spcPts val="600"/>
              </a:spcAft>
            </a:pPr>
            <a:r>
              <a:rPr lang="en-US" dirty="0"/>
              <a:t>16. For each set of parameter values compute near-far and same-different accuracy for all near and far pairs from image (</a:t>
            </a:r>
            <a:r>
              <a:rPr lang="en-US" b="1" dirty="0" err="1"/>
              <a:t>dvbcfun.m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17. Go to step 9</a:t>
            </a:r>
          </a:p>
          <a:p>
            <a:pPr>
              <a:spcAft>
                <a:spcPts val="600"/>
              </a:spcAft>
            </a:pPr>
            <a:r>
              <a:rPr lang="en-US" dirty="0"/>
              <a:t>18. Save the average accuracies (</a:t>
            </a:r>
            <a:r>
              <a:rPr lang="en-US" dirty="0" err="1"/>
              <a:t>pcav</a:t>
            </a:r>
            <a:r>
              <a:rPr lang="en-US" dirty="0"/>
              <a:t>) across patch pairs for each set of parameter values (e.g., 40*162 = 6,480 trials)</a:t>
            </a:r>
          </a:p>
          <a:p>
            <a:pPr>
              <a:spcAft>
                <a:spcPts val="600"/>
              </a:spcAft>
            </a:pPr>
            <a:r>
              <a:rPr lang="en-US" dirty="0"/>
              <a:t>19. Save average accuracies (</a:t>
            </a:r>
            <a:r>
              <a:rPr lang="en-US" dirty="0" err="1"/>
              <a:t>pcmav</a:t>
            </a:r>
            <a:r>
              <a:rPr lang="en-US" dirty="0"/>
              <a:t>) as a function of criterion when dynamic mutual similarity is used</a:t>
            </a:r>
          </a:p>
        </p:txBody>
      </p:sp>
    </p:spTree>
    <p:extLst>
      <p:ext uri="{BB962C8B-B14F-4D97-AF65-F5344CB8AC3E}">
        <p14:creationId xmlns:p14="http://schemas.microsoft.com/office/powerpoint/2010/main" val="277014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CC8EB-D74C-05E1-2A9F-243DDB74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7ADBE-14CE-121C-FE8C-C5E817CCC6DB}"/>
              </a:ext>
            </a:extLst>
          </p:cNvPr>
          <p:cNvSpPr txBox="1"/>
          <p:nvPr/>
        </p:nvSpPr>
        <p:spPr>
          <a:xfrm>
            <a:off x="1046990" y="202916"/>
            <a:ext cx="10335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discrimination: single-image self-supervised </a:t>
            </a:r>
            <a:r>
              <a:rPr lang="en-US" sz="2400" b="1" dirty="0" err="1"/>
              <a:t>bc</a:t>
            </a:r>
            <a:r>
              <a:rPr lang="en-US" sz="2400" b="1" dirty="0"/>
              <a:t>-shift DV &amp; bound</a:t>
            </a:r>
          </a:p>
          <a:p>
            <a:pPr algn="ctr"/>
            <a:r>
              <a:rPr lang="en-US" sz="2400" b="1" dirty="0"/>
              <a:t>(proximity proxy)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2D466-8A78-FDD6-F58C-F2904940643B}"/>
              </a:ext>
            </a:extLst>
          </p:cNvPr>
          <p:cNvSpPr txBox="1"/>
          <p:nvPr/>
        </p:nvSpPr>
        <p:spPr>
          <a:xfrm>
            <a:off x="542441" y="965020"/>
            <a:ext cx="11439923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self_sup_train_bnd_bc_shft.m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,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Set level (lev), set image type (</a:t>
            </a:r>
            <a:r>
              <a:rPr lang="en-US" dirty="0" err="1"/>
              <a:t>itype</a:t>
            </a:r>
            <a:r>
              <a:rPr lang="en-US" dirty="0"/>
              <a:t>), set bin type (b)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image images; convert to double; for compressed images linearize (</a:t>
            </a:r>
            <a:r>
              <a:rPr lang="en-US" b="1" dirty="0" err="1"/>
              <a:t>adobe_expand.m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 err="1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), down sample for given eccentricity/[lev = 1,2,4,8] (</a:t>
            </a:r>
            <a:r>
              <a:rPr lang="en-US" b="1" dirty="0" err="1"/>
              <a:t>dsmp.m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the task-dependent features load the number of bins and bin bounds (</a:t>
            </a:r>
            <a:r>
              <a:rPr lang="en-US" b="1" dirty="0" err="1"/>
              <a:t>mk_bb.m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DV coefficients (</a:t>
            </a:r>
            <a:r>
              <a:rPr lang="en-US" b="1" dirty="0"/>
              <a:t>'</a:t>
            </a:r>
            <a:r>
              <a:rPr lang="en-US" b="1" dirty="0" err="1"/>
              <a:t>dbndhNO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dbndeNO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dbndbNO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dbndcNO</a:t>
            </a:r>
            <a:r>
              <a:rPr lang="en-US" b="1" dirty="0"/>
              <a:t>’ , '</a:t>
            </a:r>
            <a:r>
              <a:rPr lang="en-US" b="1" dirty="0" err="1"/>
              <a:t>dbndbcNO</a:t>
            </a:r>
            <a:r>
              <a:rPr lang="en-US" b="1" dirty="0"/>
              <a:t>’</a:t>
            </a:r>
            <a:r>
              <a:rPr lang="en-US" dirty="0"/>
              <a:t>) and functions (</a:t>
            </a:r>
            <a:r>
              <a:rPr lang="en-US" b="1" dirty="0"/>
              <a:t>quad2fun.m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Generate random texture numbers, masks and maps for all trials in a session (</a:t>
            </a:r>
            <a:r>
              <a:rPr lang="en-US" b="1" dirty="0" err="1"/>
              <a:t>mk_texs.m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mk_masks.m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each trial, make the GTR image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all content similarities and mutual similarities (rho values) for the image (</a:t>
            </a:r>
            <a:r>
              <a:rPr lang="en-US" b="1" dirty="0" err="1"/>
              <a:t>mk_phi.m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Extract and process neighboring patches, normalize ( </a:t>
            </a:r>
            <a:r>
              <a:rPr lang="en-US" b="1" dirty="0" err="1"/>
              <a:t>ptch_norm.m</a:t>
            </a:r>
            <a:r>
              <a:rPr lang="en-US" dirty="0"/>
              <a:t>) and transform to </a:t>
            </a:r>
            <a:r>
              <a:rPr lang="en-US" dirty="0" err="1"/>
              <a:t>abr</a:t>
            </a:r>
            <a:r>
              <a:rPr lang="en-US" dirty="0"/>
              <a:t> space (</a:t>
            </a:r>
            <a:r>
              <a:rPr lang="en-US" b="1" dirty="0" err="1"/>
              <a:t>rot.m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power (</a:t>
            </a:r>
            <a:r>
              <a:rPr lang="en-US" b="1" dirty="0" err="1"/>
              <a:t>Rp.m</a:t>
            </a:r>
            <a:r>
              <a:rPr lang="en-US" dirty="0"/>
              <a:t>), spot (</a:t>
            </a:r>
            <a:r>
              <a:rPr lang="en-US" b="1" dirty="0" err="1"/>
              <a:t>Rh.m</a:t>
            </a:r>
            <a:r>
              <a:rPr lang="en-US" dirty="0"/>
              <a:t>), </a:t>
            </a:r>
            <a:r>
              <a:rPr lang="en-US" b="1" dirty="0" err="1"/>
              <a:t>dvhfun.m</a:t>
            </a:r>
            <a:r>
              <a:rPr lang="en-US" dirty="0"/>
              <a:t>) and edge (</a:t>
            </a:r>
            <a:r>
              <a:rPr lang="en-US" b="1" dirty="0" err="1"/>
              <a:t>Re.m</a:t>
            </a:r>
            <a:r>
              <a:rPr lang="en-US" dirty="0"/>
              <a:t>, </a:t>
            </a:r>
            <a:r>
              <a:rPr lang="en-US" b="1" dirty="0" err="1"/>
              <a:t>dvefun.m</a:t>
            </a:r>
            <a:r>
              <a:rPr lang="en-US" dirty="0"/>
              <a:t>) decision variables (DVs)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Computer border (</a:t>
            </a:r>
            <a:r>
              <a:rPr lang="en-US" b="1" dirty="0" err="1"/>
              <a:t>Rb.m</a:t>
            </a:r>
            <a:r>
              <a:rPr lang="en-US" dirty="0"/>
              <a:t>, </a:t>
            </a:r>
            <a:r>
              <a:rPr lang="en-US" b="1" dirty="0" err="1"/>
              <a:t>dvbfun.m</a:t>
            </a:r>
            <a:r>
              <a:rPr lang="en-US" dirty="0"/>
              <a:t>) and content ( </a:t>
            </a:r>
            <a:r>
              <a:rPr lang="en-US" b="1" dirty="0" err="1"/>
              <a:t>dvcfun.m</a:t>
            </a:r>
            <a:r>
              <a:rPr lang="en-US" dirty="0"/>
              <a:t>) DVs</a:t>
            </a:r>
          </a:p>
        </p:txBody>
      </p:sp>
    </p:spTree>
    <p:extLst>
      <p:ext uri="{BB962C8B-B14F-4D97-AF65-F5344CB8AC3E}">
        <p14:creationId xmlns:p14="http://schemas.microsoft.com/office/powerpoint/2010/main" val="495219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68B9-B087-95A8-28AC-F425BFAA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860895-C8F1-C6D4-CF1F-31DCDF3FF342}"/>
              </a:ext>
            </a:extLst>
          </p:cNvPr>
          <p:cNvSpPr txBox="1"/>
          <p:nvPr/>
        </p:nvSpPr>
        <p:spPr>
          <a:xfrm>
            <a:off x="501300" y="490680"/>
            <a:ext cx="1107901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14. Find opt criterion (</a:t>
            </a:r>
            <a:r>
              <a:rPr lang="en-US" dirty="0" err="1"/>
              <a:t>copt</a:t>
            </a:r>
            <a:r>
              <a:rPr lang="en-US" dirty="0"/>
              <a:t>) for border &amp; content decision variable accuracy</a:t>
            </a:r>
          </a:p>
          <a:p>
            <a:pPr>
              <a:spcAft>
                <a:spcPts val="600"/>
              </a:spcAft>
            </a:pPr>
            <a:r>
              <a:rPr lang="en-US" dirty="0"/>
              <a:t>15. Vary mutual similarity weight (</a:t>
            </a:r>
            <a:r>
              <a:rPr lang="en-US" dirty="0" err="1"/>
              <a:t>wm</a:t>
            </a:r>
            <a:r>
              <a:rPr lang="en-US" dirty="0"/>
              <a:t>) and criterion (</a:t>
            </a:r>
            <a:r>
              <a:rPr lang="en-US" dirty="0" err="1"/>
              <a:t>gc</a:t>
            </a:r>
            <a:r>
              <a:rPr lang="en-US" dirty="0"/>
              <a:t>) parameters; note that when j = 1 and k = 1 </a:t>
            </a:r>
            <a:r>
              <a:rPr lang="en-US" dirty="0" err="1"/>
              <a:t>wm</a:t>
            </a:r>
            <a:r>
              <a:rPr lang="en-US" dirty="0"/>
              <a:t> = </a:t>
            </a:r>
            <a:r>
              <a:rPr lang="en-US" dirty="0" err="1"/>
              <a:t>gc</a:t>
            </a:r>
            <a:r>
              <a:rPr lang="en-US" dirty="0"/>
              <a:t> = 0 and hence no mutual similarity cue (</a:t>
            </a:r>
            <a:r>
              <a:rPr lang="en-US" dirty="0" err="1"/>
              <a:t>gc</a:t>
            </a:r>
            <a:r>
              <a:rPr lang="en-US" dirty="0"/>
              <a:t> should be set to zero when </a:t>
            </a:r>
            <a:r>
              <a:rPr lang="en-US" dirty="0" err="1"/>
              <a:t>wm</a:t>
            </a:r>
            <a:r>
              <a:rPr lang="en-US" dirty="0"/>
              <a:t> is zero)</a:t>
            </a:r>
          </a:p>
          <a:p>
            <a:pPr>
              <a:spcAft>
                <a:spcPts val="600"/>
              </a:spcAft>
            </a:pPr>
            <a:r>
              <a:rPr lang="en-US" dirty="0"/>
              <a:t>16. For each set of parameter values compute near-far and same-different accuracy for all near and far pairs from image with offset of </a:t>
            </a:r>
            <a:r>
              <a:rPr lang="en-US" dirty="0" err="1"/>
              <a:t>copt</a:t>
            </a:r>
            <a:r>
              <a:rPr lang="en-US" dirty="0"/>
              <a:t> for border &amp; content DV (</a:t>
            </a:r>
            <a:r>
              <a:rPr lang="en-US" b="1" dirty="0" err="1"/>
              <a:t>dvbcfun.m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17. Go to step 9</a:t>
            </a:r>
          </a:p>
          <a:p>
            <a:pPr>
              <a:spcAft>
                <a:spcPts val="600"/>
              </a:spcAft>
            </a:pPr>
            <a:r>
              <a:rPr lang="en-US" dirty="0"/>
              <a:t>18. Save the average accuracies (</a:t>
            </a:r>
            <a:r>
              <a:rPr lang="en-US" dirty="0" err="1"/>
              <a:t>pcav</a:t>
            </a:r>
            <a:r>
              <a:rPr lang="en-US" dirty="0"/>
              <a:t>) across patch pairs for each set of parameter values (e.g., 40*162 = 6,480 trials)</a:t>
            </a:r>
          </a:p>
          <a:p>
            <a:pPr>
              <a:spcAft>
                <a:spcPts val="600"/>
              </a:spcAft>
            </a:pPr>
            <a:r>
              <a:rPr lang="en-US" dirty="0"/>
              <a:t>19. Save average accuracies (</a:t>
            </a:r>
            <a:r>
              <a:rPr lang="en-US" dirty="0" err="1"/>
              <a:t>pcmav</a:t>
            </a:r>
            <a:r>
              <a:rPr lang="en-US" dirty="0"/>
              <a:t>) as a function of criterion when dynamic mutual similarity is used</a:t>
            </a:r>
          </a:p>
          <a:p>
            <a:pPr>
              <a:spcAft>
                <a:spcPts val="600"/>
              </a:spcAft>
            </a:pPr>
            <a:r>
              <a:rPr lang="en-US" dirty="0"/>
              <a:t>20. Set </a:t>
            </a:r>
            <a:r>
              <a:rPr lang="en-US" dirty="0" err="1"/>
              <a:t>shftflg</a:t>
            </a:r>
            <a:r>
              <a:rPr lang="en-US" dirty="0"/>
              <a:t> = 0 to not use </a:t>
            </a:r>
            <a:r>
              <a:rPr lang="en-US" dirty="0" err="1"/>
              <a:t>copt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548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EFA33-12CB-7BFA-42CB-55D872F0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3031C6-297A-EE47-E215-1A4D43059988}"/>
              </a:ext>
            </a:extLst>
          </p:cNvPr>
          <p:cNvSpPr txBox="1"/>
          <p:nvPr/>
        </p:nvSpPr>
        <p:spPr>
          <a:xfrm>
            <a:off x="1046990" y="202916"/>
            <a:ext cx="10335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discrimination: single-image self-supervised c-shift DV &amp; bound</a:t>
            </a:r>
          </a:p>
          <a:p>
            <a:pPr algn="ctr"/>
            <a:r>
              <a:rPr lang="en-US" sz="2400" b="1" dirty="0"/>
              <a:t>(proximity proxy)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D5236-D462-5116-6C4D-D12B96B9A765}"/>
              </a:ext>
            </a:extLst>
          </p:cNvPr>
          <p:cNvSpPr txBox="1"/>
          <p:nvPr/>
        </p:nvSpPr>
        <p:spPr>
          <a:xfrm>
            <a:off x="542441" y="965020"/>
            <a:ext cx="11439923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self_sup_train_bnd_c_shft.m</a:t>
            </a:r>
            <a:endParaRPr lang="en-US" dirty="0"/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,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Set level (lev), set image type (</a:t>
            </a:r>
            <a:r>
              <a:rPr lang="en-US" dirty="0" err="1"/>
              <a:t>itype</a:t>
            </a:r>
            <a:r>
              <a:rPr lang="en-US" dirty="0"/>
              <a:t>), set bin type (b)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image images; convert to double; for compressed images linearize (</a:t>
            </a:r>
            <a:r>
              <a:rPr lang="en-US" b="1" dirty="0" err="1"/>
              <a:t>adobe_expand.m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 err="1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), down sample for given eccentricity/[lev = 1,2,4,8] (</a:t>
            </a:r>
            <a:r>
              <a:rPr lang="en-US" b="1" dirty="0" err="1"/>
              <a:t>dsmp.m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the task-dependent features load the number of bins and bin bounds (</a:t>
            </a:r>
            <a:r>
              <a:rPr lang="en-US" b="1" dirty="0" err="1"/>
              <a:t>mk_bb.m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DV coefficients (</a:t>
            </a:r>
            <a:r>
              <a:rPr lang="en-US" b="1" dirty="0"/>
              <a:t>'</a:t>
            </a:r>
            <a:r>
              <a:rPr lang="en-US" b="1" dirty="0" err="1"/>
              <a:t>dbndhNO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dbndeNO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dbndbNO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dbndcNO</a:t>
            </a:r>
            <a:r>
              <a:rPr lang="en-US" b="1" dirty="0"/>
              <a:t>’ , '</a:t>
            </a:r>
            <a:r>
              <a:rPr lang="en-US" b="1" dirty="0" err="1"/>
              <a:t>dbndbcNO</a:t>
            </a:r>
            <a:r>
              <a:rPr lang="en-US" b="1" dirty="0"/>
              <a:t>’</a:t>
            </a:r>
            <a:r>
              <a:rPr lang="en-US" dirty="0"/>
              <a:t>) and functions (</a:t>
            </a:r>
            <a:r>
              <a:rPr lang="en-US" b="1" dirty="0"/>
              <a:t>quad2fun.m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Generate random texture numbers, masks and maps for all trials in a session (</a:t>
            </a:r>
            <a:r>
              <a:rPr lang="en-US" b="1" dirty="0" err="1"/>
              <a:t>mk_texs.m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mk_masks.m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each trial, make the GTR image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all content similarities and mutual similarities (rho values) for the image (</a:t>
            </a:r>
            <a:r>
              <a:rPr lang="en-US" b="1" dirty="0" err="1"/>
              <a:t>mk_phi.m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Extract and process neighboring patches, normalize ( </a:t>
            </a:r>
            <a:r>
              <a:rPr lang="en-US" b="1" dirty="0" err="1"/>
              <a:t>ptch_norm.m</a:t>
            </a:r>
            <a:r>
              <a:rPr lang="en-US" dirty="0"/>
              <a:t>) and transform to </a:t>
            </a:r>
            <a:r>
              <a:rPr lang="en-US" dirty="0" err="1"/>
              <a:t>abr</a:t>
            </a:r>
            <a:r>
              <a:rPr lang="en-US" dirty="0"/>
              <a:t> space (</a:t>
            </a:r>
            <a:r>
              <a:rPr lang="en-US" b="1" dirty="0" err="1"/>
              <a:t>rot.m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power (</a:t>
            </a:r>
            <a:r>
              <a:rPr lang="en-US" b="1" dirty="0" err="1"/>
              <a:t>Rp.m</a:t>
            </a:r>
            <a:r>
              <a:rPr lang="en-US" dirty="0"/>
              <a:t>), spot (</a:t>
            </a:r>
            <a:r>
              <a:rPr lang="en-US" b="1" dirty="0" err="1"/>
              <a:t>Rh.m</a:t>
            </a:r>
            <a:r>
              <a:rPr lang="en-US" dirty="0"/>
              <a:t>), </a:t>
            </a:r>
            <a:r>
              <a:rPr lang="en-US" b="1" dirty="0" err="1"/>
              <a:t>dvhfun.m</a:t>
            </a:r>
            <a:r>
              <a:rPr lang="en-US" dirty="0"/>
              <a:t>) and edge (</a:t>
            </a:r>
            <a:r>
              <a:rPr lang="en-US" b="1" dirty="0" err="1"/>
              <a:t>Re.m</a:t>
            </a:r>
            <a:r>
              <a:rPr lang="en-US" dirty="0"/>
              <a:t>, </a:t>
            </a:r>
            <a:r>
              <a:rPr lang="en-US" b="1" dirty="0" err="1"/>
              <a:t>dvefun.m</a:t>
            </a:r>
            <a:r>
              <a:rPr lang="en-US" dirty="0"/>
              <a:t>) decision variables (DVs)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Computer border (</a:t>
            </a:r>
            <a:r>
              <a:rPr lang="en-US" b="1" dirty="0" err="1"/>
              <a:t>Rb.m</a:t>
            </a:r>
            <a:r>
              <a:rPr lang="en-US" dirty="0"/>
              <a:t>, </a:t>
            </a:r>
            <a:r>
              <a:rPr lang="en-US" b="1" dirty="0" err="1"/>
              <a:t>dvbfun.m</a:t>
            </a:r>
            <a:r>
              <a:rPr lang="en-US" dirty="0"/>
              <a:t>) and content ( </a:t>
            </a:r>
            <a:r>
              <a:rPr lang="en-US" b="1" dirty="0" err="1"/>
              <a:t>dvcfun.m</a:t>
            </a:r>
            <a:r>
              <a:rPr lang="en-US" dirty="0"/>
              <a:t>) DVs</a:t>
            </a:r>
          </a:p>
        </p:txBody>
      </p:sp>
    </p:spTree>
    <p:extLst>
      <p:ext uri="{BB962C8B-B14F-4D97-AF65-F5344CB8AC3E}">
        <p14:creationId xmlns:p14="http://schemas.microsoft.com/office/powerpoint/2010/main" val="286929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01A88-4048-1865-F7F4-151D889C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EDAC2C-0F46-357F-2970-9A6D282DCD17}"/>
              </a:ext>
            </a:extLst>
          </p:cNvPr>
          <p:cNvSpPr txBox="1"/>
          <p:nvPr/>
        </p:nvSpPr>
        <p:spPr>
          <a:xfrm>
            <a:off x="501300" y="490680"/>
            <a:ext cx="11079012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15. Find opt criterion (</a:t>
            </a:r>
            <a:r>
              <a:rPr lang="en-US" dirty="0" err="1"/>
              <a:t>copt</a:t>
            </a:r>
            <a:r>
              <a:rPr lang="en-US" dirty="0"/>
              <a:t>) for content decision variable accuracy</a:t>
            </a:r>
          </a:p>
          <a:p>
            <a:pPr>
              <a:spcAft>
                <a:spcPts val="600"/>
              </a:spcAft>
            </a:pPr>
            <a:r>
              <a:rPr lang="en-US" dirty="0"/>
              <a:t>15. Vary mutual similarity weight (</a:t>
            </a:r>
            <a:r>
              <a:rPr lang="en-US" dirty="0" err="1"/>
              <a:t>wm</a:t>
            </a:r>
            <a:r>
              <a:rPr lang="en-US" dirty="0"/>
              <a:t>) and criterion (</a:t>
            </a:r>
            <a:r>
              <a:rPr lang="en-US" dirty="0" err="1"/>
              <a:t>gc</a:t>
            </a:r>
            <a:r>
              <a:rPr lang="en-US" dirty="0"/>
              <a:t>) parameters, note that when j = 1 and k = 1 </a:t>
            </a:r>
            <a:r>
              <a:rPr lang="en-US" dirty="0" err="1"/>
              <a:t>wm</a:t>
            </a:r>
            <a:r>
              <a:rPr lang="en-US" dirty="0"/>
              <a:t> = </a:t>
            </a:r>
            <a:r>
              <a:rPr lang="en-US" dirty="0" err="1"/>
              <a:t>gc</a:t>
            </a:r>
            <a:r>
              <a:rPr lang="en-US" dirty="0"/>
              <a:t> = 0 and hence no mutual similarity cue (</a:t>
            </a:r>
            <a:r>
              <a:rPr lang="en-US" dirty="0" err="1"/>
              <a:t>gc</a:t>
            </a:r>
            <a:r>
              <a:rPr lang="en-US" dirty="0"/>
              <a:t> should be set to zero when </a:t>
            </a:r>
            <a:r>
              <a:rPr lang="en-US" dirty="0" err="1"/>
              <a:t>wm</a:t>
            </a:r>
            <a:r>
              <a:rPr lang="en-US" dirty="0"/>
              <a:t> is zero)</a:t>
            </a:r>
          </a:p>
          <a:p>
            <a:pPr>
              <a:spcAft>
                <a:spcPts val="600"/>
              </a:spcAft>
            </a:pPr>
            <a:r>
              <a:rPr lang="en-US" dirty="0"/>
              <a:t>16. For each set of parameter values compute near-far and same-different accuracy for all near and far pairs from image with offset of </a:t>
            </a:r>
            <a:r>
              <a:rPr lang="en-US" dirty="0" err="1"/>
              <a:t>copt</a:t>
            </a:r>
            <a:r>
              <a:rPr lang="en-US" dirty="0"/>
              <a:t> for content DV (</a:t>
            </a:r>
            <a:r>
              <a:rPr lang="en-US" b="1" dirty="0" err="1"/>
              <a:t>dvbcfun.m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17. Go to step 9</a:t>
            </a:r>
          </a:p>
          <a:p>
            <a:pPr>
              <a:spcAft>
                <a:spcPts val="600"/>
              </a:spcAft>
            </a:pPr>
            <a:r>
              <a:rPr lang="en-US" dirty="0"/>
              <a:t>18. Save the average accuracies (</a:t>
            </a:r>
            <a:r>
              <a:rPr lang="en-US" dirty="0" err="1"/>
              <a:t>pcav</a:t>
            </a:r>
            <a:r>
              <a:rPr lang="en-US" dirty="0"/>
              <a:t>) across patch pairs for each set of parameter values (e.g., 40*162 = 6,480 trials)</a:t>
            </a:r>
          </a:p>
          <a:p>
            <a:pPr>
              <a:spcAft>
                <a:spcPts val="600"/>
              </a:spcAft>
            </a:pPr>
            <a:r>
              <a:rPr lang="en-US" dirty="0"/>
              <a:t>19. Save average accuracies (</a:t>
            </a:r>
            <a:r>
              <a:rPr lang="en-US" dirty="0" err="1"/>
              <a:t>pcmav</a:t>
            </a:r>
            <a:r>
              <a:rPr lang="en-US" dirty="0"/>
              <a:t>) as a function of criterion when dynamic mutual similarity is used</a:t>
            </a:r>
          </a:p>
          <a:p>
            <a:pPr>
              <a:spcAft>
                <a:spcPts val="600"/>
              </a:spcAft>
            </a:pPr>
            <a:r>
              <a:rPr lang="en-US" dirty="0"/>
              <a:t>20. Set </a:t>
            </a:r>
            <a:r>
              <a:rPr lang="en-US" dirty="0" err="1"/>
              <a:t>bordflg</a:t>
            </a:r>
            <a:r>
              <a:rPr lang="en-US" dirty="0"/>
              <a:t> = 0 to not use border cues</a:t>
            </a:r>
          </a:p>
          <a:p>
            <a:pPr>
              <a:spcAft>
                <a:spcPts val="600"/>
              </a:spcAft>
            </a:pPr>
            <a:r>
              <a:rPr lang="en-US" dirty="0"/>
              <a:t>21. Set </a:t>
            </a:r>
            <a:r>
              <a:rPr lang="en-US" dirty="0" err="1"/>
              <a:t>shftflg</a:t>
            </a:r>
            <a:r>
              <a:rPr lang="en-US" dirty="0"/>
              <a:t> = 0 to not use </a:t>
            </a:r>
            <a:r>
              <a:rPr lang="en-US" dirty="0" err="1"/>
              <a:t>copt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33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587FEA-3BB6-26FB-E75F-E3D396FED7E8}"/>
              </a:ext>
            </a:extLst>
          </p:cNvPr>
          <p:cNvSpPr txBox="1"/>
          <p:nvPr/>
        </p:nvSpPr>
        <p:spPr>
          <a:xfrm>
            <a:off x="1139868" y="1176402"/>
            <a:ext cx="98642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trained on natural images using proximity proxy for ground truth</a:t>
            </a:r>
          </a:p>
          <a:p>
            <a:endParaRPr lang="en-US" dirty="0"/>
          </a:p>
          <a:p>
            <a:r>
              <a:rPr lang="en-US" dirty="0"/>
              <a:t>NC = N with content criterion adjusted for the current image using the proximity proxy</a:t>
            </a:r>
          </a:p>
          <a:p>
            <a:endParaRPr lang="en-US" dirty="0"/>
          </a:p>
          <a:p>
            <a:r>
              <a:rPr lang="en-US" dirty="0"/>
              <a:t>NMF = N with mutual similarity and fixed weight using the proximity proxy</a:t>
            </a:r>
          </a:p>
          <a:p>
            <a:endParaRPr lang="en-US" dirty="0"/>
          </a:p>
          <a:p>
            <a:r>
              <a:rPr lang="en-US" dirty="0"/>
              <a:t>NM = N with the mutual similarity weight adjusted for current image using the proximity proxy</a:t>
            </a:r>
          </a:p>
          <a:p>
            <a:endParaRPr lang="en-US" dirty="0"/>
          </a:p>
          <a:p>
            <a:r>
              <a:rPr lang="en-US" dirty="0"/>
              <a:t>NCM = N with content criterion and mutual similarity weight adjusted for current image using the proximity proxy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FD9FC-A185-7D79-A1AF-C63E4FD02034}"/>
              </a:ext>
            </a:extLst>
          </p:cNvPr>
          <p:cNvSpPr txBox="1"/>
          <p:nvPr/>
        </p:nvSpPr>
        <p:spPr>
          <a:xfrm>
            <a:off x="745299" y="682668"/>
            <a:ext cx="8526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Methods with fixed final same-different decision criterion (biologically plausible)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4969D-3CCA-71D0-A40E-5DF1F5FA6638}"/>
              </a:ext>
            </a:extLst>
          </p:cNvPr>
          <p:cNvSpPr txBox="1"/>
          <p:nvPr/>
        </p:nvSpPr>
        <p:spPr>
          <a:xfrm>
            <a:off x="745299" y="4382860"/>
            <a:ext cx="8134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Methods with dynamic final same-different decision criterion (less plausible)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F7014-640F-AA1E-4894-233EE531D09F}"/>
              </a:ext>
            </a:extLst>
          </p:cNvPr>
          <p:cNvSpPr txBox="1"/>
          <p:nvPr/>
        </p:nvSpPr>
        <p:spPr>
          <a:xfrm>
            <a:off x="1139868" y="4876594"/>
            <a:ext cx="10089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NCB = N with content and border criterion adjusted using proximity proxy for ground truth</a:t>
            </a:r>
          </a:p>
          <a:p>
            <a:endParaRPr lang="en-US" dirty="0"/>
          </a:p>
          <a:p>
            <a:r>
              <a:rPr lang="en-US" dirty="0"/>
              <a:t>NCBM = N with content and border criterion and mutual similarity weight adjusted for the current image using the proximity proxy</a:t>
            </a:r>
          </a:p>
        </p:txBody>
      </p:sp>
    </p:spTree>
    <p:extLst>
      <p:ext uri="{BB962C8B-B14F-4D97-AF65-F5344CB8AC3E}">
        <p14:creationId xmlns:p14="http://schemas.microsoft.com/office/powerpoint/2010/main" val="249648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71A6A3-7FA7-10CF-E5C5-1262B16D1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57" y="0"/>
            <a:ext cx="6680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60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30588D-8936-5C4C-4AB7-DB8C587DF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57" y="0"/>
            <a:ext cx="6680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21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A1FB-B1E9-22B4-AB0D-8DC39890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CAC377-BE5A-BD97-06B7-34427235D7F4}"/>
              </a:ext>
            </a:extLst>
          </p:cNvPr>
          <p:cNvSpPr txBox="1"/>
          <p:nvPr/>
        </p:nvSpPr>
        <p:spPr>
          <a:xfrm>
            <a:off x="2351314" y="1989573"/>
            <a:ext cx="442750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</a:t>
            </a:r>
          </a:p>
          <a:p>
            <a:pPr>
              <a:spcAft>
                <a:spcPts val="600"/>
              </a:spcAft>
            </a:pP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r>
              <a:rPr lang="en-US" dirty="0"/>
              <a:t>S</a:t>
            </a:r>
            <a:r>
              <a:rPr lang="en-US" baseline="-25000" dirty="0"/>
              <a:t>2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E</a:t>
            </a:r>
            <a:r>
              <a:rPr lang="en-US" baseline="-25000" dirty="0"/>
              <a:t>1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E</a:t>
            </a:r>
            <a:r>
              <a:rPr lang="en-US" baseline="-25000" dirty="0"/>
              <a:t>2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E</a:t>
            </a:r>
            <a:r>
              <a:rPr lang="en-US" baseline="-25000" dirty="0"/>
              <a:t>3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E</a:t>
            </a:r>
            <a:r>
              <a:rPr lang="en-US" baseline="-25000" dirty="0"/>
              <a:t>4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P</a:t>
            </a:r>
          </a:p>
          <a:p>
            <a:pPr>
              <a:spcAft>
                <a:spcPts val="600"/>
              </a:spcAft>
            </a:pPr>
            <a:r>
              <a:rPr lang="en-US" dirty="0"/>
              <a:t>B</a:t>
            </a:r>
            <a:r>
              <a:rPr lang="en-US" baseline="-25000" dirty="0"/>
              <a:t>1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B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E0EF2-1CA1-4231-5BA3-BED80EBEF51F}"/>
              </a:ext>
            </a:extLst>
          </p:cNvPr>
          <p:cNvSpPr txBox="1"/>
          <p:nvPr/>
        </p:nvSpPr>
        <p:spPr>
          <a:xfrm>
            <a:off x="1813093" y="1066243"/>
            <a:ext cx="1519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Independent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F190A-6588-2E40-8705-DA205754AC3B}"/>
              </a:ext>
            </a:extLst>
          </p:cNvPr>
          <p:cNvSpPr txBox="1"/>
          <p:nvPr/>
        </p:nvSpPr>
        <p:spPr>
          <a:xfrm>
            <a:off x="3608399" y="1057313"/>
            <a:ext cx="1395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 Specific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EBB27-2352-3D42-9BD2-B4BC9CAC7FDB}"/>
              </a:ext>
            </a:extLst>
          </p:cNvPr>
          <p:cNvSpPr txBox="1"/>
          <p:nvPr/>
        </p:nvSpPr>
        <p:spPr>
          <a:xfrm>
            <a:off x="4084864" y="1989573"/>
            <a:ext cx="69640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A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S1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S2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E1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E2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E3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E4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P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B1</a:t>
            </a:r>
          </a:p>
          <a:p>
            <a:pPr>
              <a:spcAft>
                <a:spcPts val="600"/>
              </a:spcAft>
            </a:pPr>
            <a:r>
              <a:rPr lang="en-US" dirty="0"/>
              <a:t>DV</a:t>
            </a:r>
            <a:r>
              <a:rPr lang="en-US" baseline="-25000" dirty="0"/>
              <a:t>B2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40FD6-CDC9-1780-E5AA-5F44FF3631FB}"/>
              </a:ext>
            </a:extLst>
          </p:cNvPr>
          <p:cNvSpPr txBox="1"/>
          <p:nvPr/>
        </p:nvSpPr>
        <p:spPr>
          <a:xfrm>
            <a:off x="5306151" y="1066243"/>
            <a:ext cx="1268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Spot, Edge &amp; Power DV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64F9E-AB08-31FB-398B-D6A8ABB8F8E3}"/>
              </a:ext>
            </a:extLst>
          </p:cNvPr>
          <p:cNvSpPr txBox="1"/>
          <p:nvPr/>
        </p:nvSpPr>
        <p:spPr>
          <a:xfrm>
            <a:off x="5656266" y="2381459"/>
            <a:ext cx="563359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DV</a:t>
            </a:r>
            <a:r>
              <a:rPr lang="en-US" baseline="-25000" dirty="0"/>
              <a:t>E</a:t>
            </a:r>
          </a:p>
          <a:p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800"/>
              </a:spcAft>
            </a:pPr>
            <a:r>
              <a:rPr lang="en-US" dirty="0"/>
              <a:t>DV</a:t>
            </a:r>
            <a:r>
              <a:rPr lang="en-US" baseline="-25000" dirty="0"/>
              <a:t>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6656E0-1520-7F7F-EA7A-8C15BF314E6A}"/>
              </a:ext>
            </a:extLst>
          </p:cNvPr>
          <p:cNvCxnSpPr>
            <a:cxnSpLocks/>
          </p:cNvCxnSpPr>
          <p:nvPr/>
        </p:nvCxnSpPr>
        <p:spPr>
          <a:xfrm>
            <a:off x="2748223" y="2185516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D04D76-44AD-4F70-6BBE-1AC542B08B4A}"/>
              </a:ext>
            </a:extLst>
          </p:cNvPr>
          <p:cNvCxnSpPr>
            <a:cxnSpLocks/>
          </p:cNvCxnSpPr>
          <p:nvPr/>
        </p:nvCxnSpPr>
        <p:spPr>
          <a:xfrm>
            <a:off x="4642338" y="2185516"/>
            <a:ext cx="1055076" cy="37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21D46E-E185-E2CC-3B0F-C9234E46B820}"/>
              </a:ext>
            </a:extLst>
          </p:cNvPr>
          <p:cNvCxnSpPr/>
          <p:nvPr/>
        </p:nvCxnSpPr>
        <p:spPr>
          <a:xfrm>
            <a:off x="4717700" y="2562329"/>
            <a:ext cx="979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293C26-8514-F613-0F94-1349E0F5F802}"/>
              </a:ext>
            </a:extLst>
          </p:cNvPr>
          <p:cNvCxnSpPr/>
          <p:nvPr/>
        </p:nvCxnSpPr>
        <p:spPr>
          <a:xfrm flipV="1">
            <a:off x="4717700" y="2562329"/>
            <a:ext cx="979714" cy="346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0DE0A9-F06A-7939-52BD-21D31ECD1EE8}"/>
              </a:ext>
            </a:extLst>
          </p:cNvPr>
          <p:cNvCxnSpPr>
            <a:cxnSpLocks/>
          </p:cNvCxnSpPr>
          <p:nvPr/>
        </p:nvCxnSpPr>
        <p:spPr>
          <a:xfrm>
            <a:off x="4663057" y="3283268"/>
            <a:ext cx="1055076" cy="37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2C057C-4699-1379-96EF-2FD7DA77A49C}"/>
              </a:ext>
            </a:extLst>
          </p:cNvPr>
          <p:cNvCxnSpPr>
            <a:cxnSpLocks/>
          </p:cNvCxnSpPr>
          <p:nvPr/>
        </p:nvCxnSpPr>
        <p:spPr>
          <a:xfrm flipV="1">
            <a:off x="4691232" y="3660081"/>
            <a:ext cx="1026901" cy="660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E0FC57-9F4C-A69F-962E-0BF2F834B8FA}"/>
              </a:ext>
            </a:extLst>
          </p:cNvPr>
          <p:cNvCxnSpPr>
            <a:cxnSpLocks/>
          </p:cNvCxnSpPr>
          <p:nvPr/>
        </p:nvCxnSpPr>
        <p:spPr>
          <a:xfrm flipV="1">
            <a:off x="4691232" y="3660081"/>
            <a:ext cx="1026901" cy="330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185108-007F-4E2B-75D2-E15B0F33715D}"/>
              </a:ext>
            </a:extLst>
          </p:cNvPr>
          <p:cNvCxnSpPr/>
          <p:nvPr/>
        </p:nvCxnSpPr>
        <p:spPr>
          <a:xfrm>
            <a:off x="4717700" y="3617406"/>
            <a:ext cx="979714" cy="4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1E87A7-EA63-0BF2-F10B-E47FA55CED03}"/>
              </a:ext>
            </a:extLst>
          </p:cNvPr>
          <p:cNvCxnSpPr/>
          <p:nvPr/>
        </p:nvCxnSpPr>
        <p:spPr>
          <a:xfrm>
            <a:off x="4700738" y="4654061"/>
            <a:ext cx="979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C4900F-7CAE-28C4-D6AA-55B2082FCB53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4714825" y="4982307"/>
            <a:ext cx="2509059" cy="179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B02E1A-A93A-96C8-77E1-F50261CA9AA3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4717700" y="5161948"/>
            <a:ext cx="2506184" cy="218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9CE93BD-E120-EEBA-6BCE-FD5453775A75}"/>
              </a:ext>
            </a:extLst>
          </p:cNvPr>
          <p:cNvSpPr txBox="1"/>
          <p:nvPr/>
        </p:nvSpPr>
        <p:spPr>
          <a:xfrm>
            <a:off x="8243211" y="1066243"/>
            <a:ext cx="1268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Separated &amp; Joined</a:t>
            </a:r>
          </a:p>
          <a:p>
            <a:pPr algn="ctr"/>
            <a:r>
              <a:rPr lang="en-US" dirty="0"/>
              <a:t> DV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72803C-52C4-C9B7-5DEC-AE54B4A97467}"/>
              </a:ext>
            </a:extLst>
          </p:cNvPr>
          <p:cNvSpPr txBox="1"/>
          <p:nvPr/>
        </p:nvSpPr>
        <p:spPr>
          <a:xfrm>
            <a:off x="7203566" y="3495723"/>
            <a:ext cx="608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7A9F01-F589-E5F4-6870-002C0ADF181A}"/>
              </a:ext>
            </a:extLst>
          </p:cNvPr>
          <p:cNvSpPr txBox="1"/>
          <p:nvPr/>
        </p:nvSpPr>
        <p:spPr>
          <a:xfrm>
            <a:off x="7223884" y="4977282"/>
            <a:ext cx="568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B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FC82EC-EA87-E98F-6C5A-9E4ED1BFBA48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6181569" y="2608933"/>
            <a:ext cx="1021997" cy="1071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39B92AF-5171-A87F-0149-0EFCA461536B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146401" y="3680389"/>
            <a:ext cx="1057165" cy="12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BAD47DA-BCD0-D611-6C6C-4739C820BC71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154001" y="3680389"/>
            <a:ext cx="1049565" cy="983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508EE95-4178-9259-421A-B4C90217CB99}"/>
              </a:ext>
            </a:extLst>
          </p:cNvPr>
          <p:cNvSpPr txBox="1"/>
          <p:nvPr/>
        </p:nvSpPr>
        <p:spPr>
          <a:xfrm>
            <a:off x="6918776" y="1066243"/>
            <a:ext cx="1178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Content &amp; Border</a:t>
            </a:r>
          </a:p>
          <a:p>
            <a:pPr algn="ctr"/>
            <a:r>
              <a:rPr lang="en-US" dirty="0"/>
              <a:t> DV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3A6DB9-482B-EF98-832C-B83ADCE363CC}"/>
              </a:ext>
            </a:extLst>
          </p:cNvPr>
          <p:cNvSpPr txBox="1"/>
          <p:nvPr/>
        </p:nvSpPr>
        <p:spPr>
          <a:xfrm>
            <a:off x="8593327" y="3470814"/>
            <a:ext cx="64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6FC18D-1CCE-68D5-159B-7CFF0ED5B448}"/>
              </a:ext>
            </a:extLst>
          </p:cNvPr>
          <p:cNvSpPr txBox="1"/>
          <p:nvPr/>
        </p:nvSpPr>
        <p:spPr>
          <a:xfrm>
            <a:off x="8593327" y="4224048"/>
            <a:ext cx="568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DV</a:t>
            </a:r>
            <a:r>
              <a:rPr lang="en-US" baseline="-25000" dirty="0"/>
              <a:t>J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9B36439-5FFC-5ED3-070D-4F6FB8AE839C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7706906" y="3655480"/>
            <a:ext cx="886421" cy="22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F128995-81F5-0E5B-F040-DFA38147303C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7701301" y="3676214"/>
            <a:ext cx="892026" cy="73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6E186D4-0EA4-7BB5-720A-1E909CC39EEA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7772707" y="4408714"/>
            <a:ext cx="820620" cy="753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4E26AAB-91B0-644E-00B4-3185256FF8CF}"/>
              </a:ext>
            </a:extLst>
          </p:cNvPr>
          <p:cNvCxnSpPr>
            <a:cxnSpLocks/>
          </p:cNvCxnSpPr>
          <p:nvPr/>
        </p:nvCxnSpPr>
        <p:spPr>
          <a:xfrm>
            <a:off x="2748223" y="2536749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7F699BE-7582-E5E0-3201-D6F551B741D1}"/>
              </a:ext>
            </a:extLst>
          </p:cNvPr>
          <p:cNvCxnSpPr>
            <a:cxnSpLocks/>
          </p:cNvCxnSpPr>
          <p:nvPr/>
        </p:nvCxnSpPr>
        <p:spPr>
          <a:xfrm>
            <a:off x="2748223" y="2887982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36BEC40-0AFE-D024-1841-0ECF386A7FFE}"/>
              </a:ext>
            </a:extLst>
          </p:cNvPr>
          <p:cNvCxnSpPr>
            <a:cxnSpLocks/>
          </p:cNvCxnSpPr>
          <p:nvPr/>
        </p:nvCxnSpPr>
        <p:spPr>
          <a:xfrm>
            <a:off x="2748223" y="3239215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70E2604-8E63-DF94-8A4F-2FB401EE71C5}"/>
              </a:ext>
            </a:extLst>
          </p:cNvPr>
          <p:cNvCxnSpPr>
            <a:cxnSpLocks/>
          </p:cNvCxnSpPr>
          <p:nvPr/>
        </p:nvCxnSpPr>
        <p:spPr>
          <a:xfrm>
            <a:off x="2748223" y="3590448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6D24BB7-2ABB-1B02-EEA6-100603632782}"/>
              </a:ext>
            </a:extLst>
          </p:cNvPr>
          <p:cNvCxnSpPr>
            <a:cxnSpLocks/>
          </p:cNvCxnSpPr>
          <p:nvPr/>
        </p:nvCxnSpPr>
        <p:spPr>
          <a:xfrm>
            <a:off x="2748223" y="3941681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3743627-4B73-ADC3-94B1-4C0CDC7F93E5}"/>
              </a:ext>
            </a:extLst>
          </p:cNvPr>
          <p:cNvCxnSpPr>
            <a:cxnSpLocks/>
          </p:cNvCxnSpPr>
          <p:nvPr/>
        </p:nvCxnSpPr>
        <p:spPr>
          <a:xfrm>
            <a:off x="2748223" y="4292914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8990D9B-F2BC-5B94-FD52-AB79317A12C6}"/>
              </a:ext>
            </a:extLst>
          </p:cNvPr>
          <p:cNvCxnSpPr>
            <a:cxnSpLocks/>
          </p:cNvCxnSpPr>
          <p:nvPr/>
        </p:nvCxnSpPr>
        <p:spPr>
          <a:xfrm>
            <a:off x="2748223" y="4644147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4B427B-B24D-5246-62C5-A55F5A921AEF}"/>
              </a:ext>
            </a:extLst>
          </p:cNvPr>
          <p:cNvCxnSpPr>
            <a:cxnSpLocks/>
          </p:cNvCxnSpPr>
          <p:nvPr/>
        </p:nvCxnSpPr>
        <p:spPr>
          <a:xfrm>
            <a:off x="2748223" y="4995380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34FEC1A-47C7-BFFF-82AD-B47011989EFF}"/>
              </a:ext>
            </a:extLst>
          </p:cNvPr>
          <p:cNvCxnSpPr>
            <a:cxnSpLocks/>
          </p:cNvCxnSpPr>
          <p:nvPr/>
        </p:nvCxnSpPr>
        <p:spPr>
          <a:xfrm>
            <a:off x="2748223" y="5346614"/>
            <a:ext cx="1336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0ABB7F9-9CB6-5265-D3B3-3BD6167708A3}"/>
              </a:ext>
            </a:extLst>
          </p:cNvPr>
          <p:cNvSpPr txBox="1"/>
          <p:nvPr/>
        </p:nvSpPr>
        <p:spPr>
          <a:xfrm>
            <a:off x="380205" y="1989573"/>
            <a:ext cx="1521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Achromatic pixel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8F51B6-6DE9-A243-CC24-05AA3DE2BBED}"/>
              </a:ext>
            </a:extLst>
          </p:cNvPr>
          <p:cNvSpPr txBox="1"/>
          <p:nvPr/>
        </p:nvSpPr>
        <p:spPr>
          <a:xfrm>
            <a:off x="380205" y="2382860"/>
            <a:ext cx="193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Center-surround small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7115C6-211F-9BFD-0BB6-1BC1F42C73ED}"/>
              </a:ext>
            </a:extLst>
          </p:cNvPr>
          <p:cNvSpPr txBox="1"/>
          <p:nvPr/>
        </p:nvSpPr>
        <p:spPr>
          <a:xfrm>
            <a:off x="380205" y="2735663"/>
            <a:ext cx="1887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Center-surround large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89DE98-CA89-04B3-036C-0FD20753A3FA}"/>
              </a:ext>
            </a:extLst>
          </p:cNvPr>
          <p:cNvSpPr txBox="1"/>
          <p:nvPr/>
        </p:nvSpPr>
        <p:spPr>
          <a:xfrm>
            <a:off x="380205" y="3083005"/>
            <a:ext cx="2033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baseline="30000" dirty="0"/>
              <a:t>st</a:t>
            </a:r>
            <a:r>
              <a:rPr lang="en-US" sz="1400" dirty="0"/>
              <a:t> derivative magnitude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288A74-B6F8-CBA9-9621-A75E6F7E835A}"/>
              </a:ext>
            </a:extLst>
          </p:cNvPr>
          <p:cNvSpPr txBox="1"/>
          <p:nvPr/>
        </p:nvSpPr>
        <p:spPr>
          <a:xfrm>
            <a:off x="380205" y="3431671"/>
            <a:ext cx="1606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baseline="30000" dirty="0"/>
              <a:t>st</a:t>
            </a:r>
            <a:r>
              <a:rPr lang="en-US" sz="1400" dirty="0"/>
              <a:t> derivative m x o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8C8CF05-1EFC-3300-9A63-18D54FB0C4E4}"/>
              </a:ext>
            </a:extLst>
          </p:cNvPr>
          <p:cNvSpPr txBox="1"/>
          <p:nvPr/>
        </p:nvSpPr>
        <p:spPr>
          <a:xfrm>
            <a:off x="380205" y="3766982"/>
            <a:ext cx="2137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baseline="30000" dirty="0"/>
              <a:t>nd</a:t>
            </a:r>
            <a:r>
              <a:rPr lang="en-US" sz="1400" dirty="0"/>
              <a:t> derivative magnitude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5CD991-4FFE-0A56-BC45-00F4B3BF957A}"/>
              </a:ext>
            </a:extLst>
          </p:cNvPr>
          <p:cNvSpPr txBox="1"/>
          <p:nvPr/>
        </p:nvSpPr>
        <p:spPr>
          <a:xfrm>
            <a:off x="380205" y="4124700"/>
            <a:ext cx="208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baseline="30000" dirty="0"/>
              <a:t>nd</a:t>
            </a:r>
            <a:r>
              <a:rPr lang="en-US" sz="1400" dirty="0"/>
              <a:t> derivative orientation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BC2F7E-1D32-9441-2CA4-91E23C1B579F}"/>
              </a:ext>
            </a:extLst>
          </p:cNvPr>
          <p:cNvSpPr txBox="1"/>
          <p:nvPr/>
        </p:nvSpPr>
        <p:spPr>
          <a:xfrm>
            <a:off x="380205" y="4477554"/>
            <a:ext cx="1447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spectrum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D964CF2-2542-9C1E-FE00-7EFAA15A2874}"/>
              </a:ext>
            </a:extLst>
          </p:cNvPr>
          <p:cNvSpPr txBox="1"/>
          <p:nvPr/>
        </p:nvSpPr>
        <p:spPr>
          <a:xfrm>
            <a:off x="380205" y="4823393"/>
            <a:ext cx="1723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Border edge energy</a:t>
            </a:r>
            <a:r>
              <a:rPr lang="en-US" sz="1400" baseline="30000" dirty="0"/>
              <a:t>*</a:t>
            </a:r>
            <a:endParaRPr lang="en-US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77AD29-3823-BEA7-5E25-225851C27DA3}"/>
              </a:ext>
            </a:extLst>
          </p:cNvPr>
          <p:cNvSpPr txBox="1"/>
          <p:nvPr/>
        </p:nvSpPr>
        <p:spPr>
          <a:xfrm>
            <a:off x="380205" y="5165295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Off-border edge energy</a:t>
            </a:r>
            <a:r>
              <a:rPr lang="en-US" sz="1400" baseline="30000" dirty="0"/>
              <a:t>*</a:t>
            </a:r>
            <a:endParaRPr lang="en-US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B53931-4039-DD93-3F6B-18DC37C4F337}"/>
              </a:ext>
            </a:extLst>
          </p:cNvPr>
          <p:cNvSpPr txBox="1"/>
          <p:nvPr/>
        </p:nvSpPr>
        <p:spPr>
          <a:xfrm>
            <a:off x="1201450" y="239371"/>
            <a:ext cx="10192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Hierarchical Bayesian Observer (HBO) Model of Texture Discrimination 2</a:t>
            </a:r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BB5ED82F-380B-5159-5FB4-8D1685DCF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721" y="1355540"/>
            <a:ext cx="2187939" cy="2408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2B44F9-3EAC-FE6F-01DB-89470FD22816}"/>
              </a:ext>
            </a:extLst>
          </p:cNvPr>
          <p:cNvSpPr txBox="1"/>
          <p:nvPr/>
        </p:nvSpPr>
        <p:spPr>
          <a:xfrm>
            <a:off x="10630983" y="1339480"/>
            <a:ext cx="1046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Joined task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A8A16-412D-7F1F-C0B6-A9C8283A8C1C}"/>
              </a:ext>
            </a:extLst>
          </p:cNvPr>
          <p:cNvSpPr txBox="1"/>
          <p:nvPr/>
        </p:nvSpPr>
        <p:spPr>
          <a:xfrm>
            <a:off x="10630049" y="2581774"/>
            <a:ext cx="13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Separated task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D8ABAE-3F49-7557-1E64-C54DABBFDA90}"/>
              </a:ext>
            </a:extLst>
          </p:cNvPr>
          <p:cNvSpPr txBox="1"/>
          <p:nvPr/>
        </p:nvSpPr>
        <p:spPr>
          <a:xfrm>
            <a:off x="380205" y="6021224"/>
            <a:ext cx="201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 dirty="0"/>
              <a:t>*</a:t>
            </a:r>
            <a:r>
              <a:rPr lang="en-US" sz="1400" dirty="0"/>
              <a:t>uses 1</a:t>
            </a:r>
            <a:r>
              <a:rPr lang="en-US" sz="1400" baseline="30000" dirty="0"/>
              <a:t>st</a:t>
            </a:r>
            <a:r>
              <a:rPr lang="en-US" sz="1400" dirty="0"/>
              <a:t> derivative filter</a:t>
            </a:r>
          </a:p>
        </p:txBody>
      </p:sp>
    </p:spTree>
    <p:extLst>
      <p:ext uri="{BB962C8B-B14F-4D97-AF65-F5344CB8AC3E}">
        <p14:creationId xmlns:p14="http://schemas.microsoft.com/office/powerpoint/2010/main" val="4267915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8BB2-CABA-8093-B342-BE4BBE34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655AC7-CAB6-2CFA-192C-1CF617EA9AC1}"/>
              </a:ext>
            </a:extLst>
          </p:cNvPr>
          <p:cNvSpPr txBox="1"/>
          <p:nvPr/>
        </p:nvSpPr>
        <p:spPr>
          <a:xfrm>
            <a:off x="1612344" y="1828439"/>
            <a:ext cx="9222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Application to GTR Texture Segmentation</a:t>
            </a:r>
          </a:p>
        </p:txBody>
      </p:sp>
    </p:spTree>
    <p:extLst>
      <p:ext uri="{BB962C8B-B14F-4D97-AF65-F5344CB8AC3E}">
        <p14:creationId xmlns:p14="http://schemas.microsoft.com/office/powerpoint/2010/main" val="879994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7132B-7AA6-CBA8-38EF-5C31499F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238BE-11C6-30E7-DF55-63B58F6868B0}"/>
              </a:ext>
            </a:extLst>
          </p:cNvPr>
          <p:cNvSpPr txBox="1"/>
          <p:nvPr/>
        </p:nvSpPr>
        <p:spPr>
          <a:xfrm>
            <a:off x="3506108" y="183725"/>
            <a:ext cx="4302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segmentation: NCBM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17F24-6D6F-08C7-D4FD-AAE99F2BC64D}"/>
              </a:ext>
            </a:extLst>
          </p:cNvPr>
          <p:cNvSpPr txBox="1"/>
          <p:nvPr/>
        </p:nvSpPr>
        <p:spPr>
          <a:xfrm>
            <a:off x="542441" y="765323"/>
            <a:ext cx="11439923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tex_grp_s_p_ms_SS_ncbm.m</a:t>
            </a:r>
            <a:endParaRPr lang="en-US" b="1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,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Set level (lev), set image type (</a:t>
            </a:r>
            <a:r>
              <a:rPr lang="en-US" dirty="0" err="1"/>
              <a:t>itype</a:t>
            </a:r>
            <a:r>
              <a:rPr lang="en-US" dirty="0"/>
              <a:t>), set bin type (b)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image images; convert to double; for compressed images linearize (</a:t>
            </a:r>
            <a:r>
              <a:rPr lang="en-US" b="1" dirty="0" err="1"/>
              <a:t>adobe_expand.m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 err="1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), down sample for given eccentricity/[lev = 1,2,4,8] (</a:t>
            </a:r>
            <a:r>
              <a:rPr lang="en-US" b="1" dirty="0" err="1"/>
              <a:t>dsmp.m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the task-dependent features load the number of bins and bin bounds (</a:t>
            </a:r>
            <a:r>
              <a:rPr lang="en-US" b="1" dirty="0" err="1"/>
              <a:t>mk_bb.m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DV coefficients (</a:t>
            </a:r>
            <a:r>
              <a:rPr lang="en-US" b="1" dirty="0"/>
              <a:t>'</a:t>
            </a:r>
            <a:r>
              <a:rPr lang="en-US" b="1" dirty="0" err="1"/>
              <a:t>dbndhNO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dbndeNO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dbndbNO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dbndcNO</a:t>
            </a:r>
            <a:r>
              <a:rPr lang="en-US" b="1" dirty="0"/>
              <a:t>’ , '</a:t>
            </a:r>
            <a:r>
              <a:rPr lang="en-US" b="1" dirty="0" err="1"/>
              <a:t>dbndbcNO</a:t>
            </a:r>
            <a:r>
              <a:rPr lang="en-US" b="1" dirty="0"/>
              <a:t>’</a:t>
            </a:r>
            <a:r>
              <a:rPr lang="en-US" dirty="0"/>
              <a:t>) and functions (</a:t>
            </a:r>
            <a:r>
              <a:rPr lang="en-US" b="1" dirty="0"/>
              <a:t>quad2fun.m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Set random seed for a trial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Generate random texture numbers, masks and maps the trial (</a:t>
            </a:r>
            <a:r>
              <a:rPr lang="en-US" b="1" dirty="0" err="1"/>
              <a:t>mk_texs.m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mk_masks.m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each trial, make the GTR image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all content similarities and mutual similarities (rho values) for the image (</a:t>
            </a:r>
            <a:r>
              <a:rPr lang="en-US" b="1" dirty="0" err="1"/>
              <a:t>mk_phi.m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Extract and process neighboring patches, normalize ( </a:t>
            </a:r>
            <a:r>
              <a:rPr lang="en-US" b="1" dirty="0" err="1"/>
              <a:t>ptch_norm.m</a:t>
            </a:r>
            <a:r>
              <a:rPr lang="en-US" dirty="0"/>
              <a:t>) and transform to </a:t>
            </a:r>
            <a:r>
              <a:rPr lang="en-US" dirty="0" err="1"/>
              <a:t>abr</a:t>
            </a:r>
            <a:r>
              <a:rPr lang="en-US" dirty="0"/>
              <a:t> space (</a:t>
            </a:r>
            <a:r>
              <a:rPr lang="en-US" b="1" dirty="0" err="1"/>
              <a:t>rot.m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power (</a:t>
            </a:r>
            <a:r>
              <a:rPr lang="en-US" b="1" dirty="0" err="1"/>
              <a:t>Rp.m</a:t>
            </a:r>
            <a:r>
              <a:rPr lang="en-US" dirty="0"/>
              <a:t>), spot (</a:t>
            </a:r>
            <a:r>
              <a:rPr lang="en-US" b="1" dirty="0" err="1"/>
              <a:t>Rh.m</a:t>
            </a:r>
            <a:r>
              <a:rPr lang="en-US" dirty="0"/>
              <a:t>), </a:t>
            </a:r>
            <a:r>
              <a:rPr lang="en-US" b="1" dirty="0" err="1"/>
              <a:t>dvhfun.m</a:t>
            </a:r>
            <a:r>
              <a:rPr lang="en-US" dirty="0"/>
              <a:t>) and edge (</a:t>
            </a:r>
            <a:r>
              <a:rPr lang="en-US" b="1" dirty="0" err="1"/>
              <a:t>Re.m</a:t>
            </a:r>
            <a:r>
              <a:rPr lang="en-US" dirty="0"/>
              <a:t>, </a:t>
            </a:r>
            <a:r>
              <a:rPr lang="en-US" b="1" dirty="0" err="1"/>
              <a:t>dvefun.m</a:t>
            </a:r>
            <a:r>
              <a:rPr lang="en-US" dirty="0"/>
              <a:t>) decision variables (DVs)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Computer border (</a:t>
            </a:r>
            <a:r>
              <a:rPr lang="en-US" b="1" dirty="0" err="1"/>
              <a:t>Rb.m</a:t>
            </a:r>
            <a:r>
              <a:rPr lang="en-US" dirty="0"/>
              <a:t>, </a:t>
            </a:r>
            <a:r>
              <a:rPr lang="en-US" b="1" dirty="0" err="1"/>
              <a:t>dvbfun.m</a:t>
            </a:r>
            <a:r>
              <a:rPr lang="en-US" dirty="0"/>
              <a:t>) and content ( </a:t>
            </a:r>
            <a:r>
              <a:rPr lang="en-US" b="1" dirty="0" err="1"/>
              <a:t>dvcfun.m</a:t>
            </a:r>
            <a:r>
              <a:rPr lang="en-US" dirty="0"/>
              <a:t>) DVs</a:t>
            </a:r>
          </a:p>
        </p:txBody>
      </p:sp>
    </p:spTree>
    <p:extLst>
      <p:ext uri="{BB962C8B-B14F-4D97-AF65-F5344CB8AC3E}">
        <p14:creationId xmlns:p14="http://schemas.microsoft.com/office/powerpoint/2010/main" val="3422714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00C1-66ED-F18F-09B2-E76E9626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16539-75A2-7580-189E-734FCFE19079}"/>
              </a:ext>
            </a:extLst>
          </p:cNvPr>
          <p:cNvSpPr txBox="1"/>
          <p:nvPr/>
        </p:nvSpPr>
        <p:spPr>
          <a:xfrm>
            <a:off x="501300" y="490680"/>
            <a:ext cx="1107901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14. Find opt criterion (</a:t>
            </a:r>
            <a:r>
              <a:rPr lang="en-US" dirty="0" err="1"/>
              <a:t>copt</a:t>
            </a:r>
            <a:r>
              <a:rPr lang="en-US" dirty="0"/>
              <a:t>) for border &amp; content decision variable accuracy</a:t>
            </a:r>
          </a:p>
          <a:p>
            <a:pPr>
              <a:spcAft>
                <a:spcPts val="600"/>
              </a:spcAft>
            </a:pPr>
            <a:r>
              <a:rPr lang="en-US" dirty="0"/>
              <a:t>15. Vary mutual similarity weight (</a:t>
            </a:r>
            <a:r>
              <a:rPr lang="en-US" dirty="0" err="1"/>
              <a:t>wm</a:t>
            </a:r>
            <a:r>
              <a:rPr lang="en-US" dirty="0"/>
              <a:t>) and criterion (</a:t>
            </a:r>
            <a:r>
              <a:rPr lang="en-US" dirty="0" err="1"/>
              <a:t>gc</a:t>
            </a:r>
            <a:r>
              <a:rPr lang="en-US" dirty="0"/>
              <a:t>) parameters; note that when j = 1 and k = 1 </a:t>
            </a:r>
            <a:r>
              <a:rPr lang="en-US" dirty="0" err="1"/>
              <a:t>wm</a:t>
            </a:r>
            <a:r>
              <a:rPr lang="en-US" dirty="0"/>
              <a:t> = </a:t>
            </a:r>
            <a:r>
              <a:rPr lang="en-US" dirty="0" err="1"/>
              <a:t>gc</a:t>
            </a:r>
            <a:r>
              <a:rPr lang="en-US" dirty="0"/>
              <a:t> = 0 and hence no mutual similarity cue (</a:t>
            </a:r>
            <a:r>
              <a:rPr lang="en-US" dirty="0" err="1"/>
              <a:t>gc</a:t>
            </a:r>
            <a:r>
              <a:rPr lang="en-US" dirty="0"/>
              <a:t> should be set to zero when </a:t>
            </a:r>
            <a:r>
              <a:rPr lang="en-US" dirty="0" err="1"/>
              <a:t>wm</a:t>
            </a:r>
            <a:r>
              <a:rPr lang="en-US" dirty="0"/>
              <a:t> is zero)</a:t>
            </a:r>
          </a:p>
          <a:p>
            <a:pPr>
              <a:spcAft>
                <a:spcPts val="600"/>
              </a:spcAft>
            </a:pPr>
            <a:r>
              <a:rPr lang="en-US" dirty="0"/>
              <a:t>16. For each set of parameter values compute near-far and same-different accuracy for all near and far pairs from image with offset of </a:t>
            </a:r>
            <a:r>
              <a:rPr lang="en-US" dirty="0" err="1"/>
              <a:t>copt</a:t>
            </a:r>
            <a:r>
              <a:rPr lang="en-US" dirty="0"/>
              <a:t> for border &amp; content DV (</a:t>
            </a:r>
            <a:r>
              <a:rPr lang="en-US" b="1" dirty="0" err="1"/>
              <a:t>dvbcfun.m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17. Save parameter values that give maximum near-far accuracy</a:t>
            </a:r>
          </a:p>
          <a:p>
            <a:pPr>
              <a:spcAft>
                <a:spcPts val="600"/>
              </a:spcAft>
            </a:pPr>
            <a:r>
              <a:rPr lang="en-US" dirty="0"/>
              <a:t>18. Vary the three grouping decision criteria </a:t>
            </a:r>
            <a:r>
              <a:rPr lang="en-US" dirty="0" err="1"/>
              <a:t>dgc</a:t>
            </a:r>
            <a:r>
              <a:rPr lang="en-US" dirty="0"/>
              <a:t>, cc, and mc to maximize region  count  (</a:t>
            </a:r>
            <a:r>
              <a:rPr lang="en-US" b="1" dirty="0" err="1"/>
              <a:t>mk_groups.m</a:t>
            </a:r>
            <a:r>
              <a:rPr lang="en-US" dirty="0"/>
              <a:t>, </a:t>
            </a:r>
            <a:r>
              <a:rPr lang="en-US" b="1" dirty="0" err="1"/>
              <a:t>reg_count.m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19. Go to step 8</a:t>
            </a:r>
          </a:p>
        </p:txBody>
      </p:sp>
    </p:spTree>
    <p:extLst>
      <p:ext uri="{BB962C8B-B14F-4D97-AF65-F5344CB8AC3E}">
        <p14:creationId xmlns:p14="http://schemas.microsoft.com/office/powerpoint/2010/main" val="2283050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FE9CF-0C65-7D63-2B44-C06AAD7B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B2B263-B4FE-42F8-D5B1-5DA69D12C5CC}"/>
              </a:ext>
            </a:extLst>
          </p:cNvPr>
          <p:cNvSpPr txBox="1"/>
          <p:nvPr/>
        </p:nvSpPr>
        <p:spPr>
          <a:xfrm>
            <a:off x="3601487" y="183725"/>
            <a:ext cx="4112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Texture segmentation: NCM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E65BF-67A9-1033-DEF9-D9B4C681657D}"/>
              </a:ext>
            </a:extLst>
          </p:cNvPr>
          <p:cNvSpPr txBox="1"/>
          <p:nvPr/>
        </p:nvSpPr>
        <p:spPr>
          <a:xfrm>
            <a:off x="542441" y="765323"/>
            <a:ext cx="11439923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tex_grp_s_p_ms_SS_ncm.m</a:t>
            </a:r>
            <a:endParaRPr lang="en-US" b="1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dirty="0" err="1"/>
              <a:t>cdfs</a:t>
            </a:r>
            <a:r>
              <a:rPr lang="en-US" dirty="0"/>
              <a:t>, </a:t>
            </a:r>
            <a:r>
              <a:rPr lang="en-US" dirty="0" err="1"/>
              <a:t>lms</a:t>
            </a:r>
            <a:r>
              <a:rPr lang="en-US" dirty="0"/>
              <a:t> to </a:t>
            </a:r>
            <a:r>
              <a:rPr lang="en-US" dirty="0" err="1"/>
              <a:t>abr</a:t>
            </a:r>
            <a:r>
              <a:rPr lang="en-US" dirty="0"/>
              <a:t> coefficients (</a:t>
            </a:r>
            <a:r>
              <a:rPr lang="en-US" b="1" dirty="0"/>
              <a:t>‘cdfs_abr_mo13_mo23_cs33_otf.mat’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Set level (lev), set image type (</a:t>
            </a:r>
            <a:r>
              <a:rPr lang="en-US" dirty="0" err="1"/>
              <a:t>itype</a:t>
            </a:r>
            <a:r>
              <a:rPr lang="en-US" dirty="0"/>
              <a:t>), set bin type (b)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image images; convert to double; for compressed images linearize (</a:t>
            </a:r>
            <a:r>
              <a:rPr lang="en-US" b="1" dirty="0" err="1"/>
              <a:t>adobe_expand.m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Apply approximate optics of the human eye (</a:t>
            </a:r>
            <a:r>
              <a:rPr lang="en-US" b="1" dirty="0" err="1"/>
              <a:t>aply_otf.m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Convert to LMS cone space (</a:t>
            </a:r>
            <a:r>
              <a:rPr lang="en-US" b="1" dirty="0"/>
              <a:t>rgb2lms.m</a:t>
            </a:r>
            <a:r>
              <a:rPr lang="en-US" dirty="0"/>
              <a:t>), down sample for given eccentricity/[lev = 1,2,4,8] (</a:t>
            </a:r>
            <a:r>
              <a:rPr lang="en-US" b="1" dirty="0" err="1"/>
              <a:t>dsmp.m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the task-dependent features load the number of bins and bin bounds (</a:t>
            </a:r>
            <a:r>
              <a:rPr lang="en-US" b="1" dirty="0" err="1"/>
              <a:t>mk_bb.m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Load DV coefficients (</a:t>
            </a:r>
            <a:r>
              <a:rPr lang="en-US" b="1" dirty="0"/>
              <a:t>'</a:t>
            </a:r>
            <a:r>
              <a:rPr lang="en-US" b="1" dirty="0" err="1"/>
              <a:t>dbndhNO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dbndeNO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dbndbNO</a:t>
            </a:r>
            <a:r>
              <a:rPr lang="en-US" b="1" dirty="0"/>
              <a:t>’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en-US" b="1" dirty="0" err="1"/>
              <a:t>dbndcNO</a:t>
            </a:r>
            <a:r>
              <a:rPr lang="en-US" b="1" dirty="0"/>
              <a:t>’ , '</a:t>
            </a:r>
            <a:r>
              <a:rPr lang="en-US" b="1" dirty="0" err="1"/>
              <a:t>dbndbcNO</a:t>
            </a:r>
            <a:r>
              <a:rPr lang="en-US" b="1" dirty="0"/>
              <a:t>’</a:t>
            </a:r>
            <a:r>
              <a:rPr lang="en-US" dirty="0"/>
              <a:t>) and functions (</a:t>
            </a:r>
            <a:r>
              <a:rPr lang="en-US" b="1" dirty="0"/>
              <a:t>quad2fun.m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Set random seed for a trial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dirty="0"/>
              <a:t>Generate random texture numbers, masks and maps the trial (</a:t>
            </a:r>
            <a:r>
              <a:rPr lang="en-US" b="1" dirty="0" err="1"/>
              <a:t>mk_texs.m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mk_masks.m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For each trial, make the GTR image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all content similarities and mutual similarities (rho values) for the image (</a:t>
            </a:r>
            <a:r>
              <a:rPr lang="en-US" b="1" dirty="0" err="1"/>
              <a:t>mk_phi.m</a:t>
            </a:r>
            <a:r>
              <a:rPr lang="en-US" dirty="0"/>
              <a:t>) 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Extract and process neighboring patches, normalize ( </a:t>
            </a:r>
            <a:r>
              <a:rPr lang="en-US" b="1" dirty="0" err="1"/>
              <a:t>ptch_norm.m</a:t>
            </a:r>
            <a:r>
              <a:rPr lang="en-US" dirty="0"/>
              <a:t>) and transform to </a:t>
            </a:r>
            <a:r>
              <a:rPr lang="en-US" dirty="0" err="1"/>
              <a:t>abr</a:t>
            </a:r>
            <a:r>
              <a:rPr lang="en-US" dirty="0"/>
              <a:t> space (</a:t>
            </a:r>
            <a:r>
              <a:rPr lang="en-US" b="1" dirty="0" err="1"/>
              <a:t>rot.m</a:t>
            </a:r>
            <a:r>
              <a:rPr lang="en-US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 power (</a:t>
            </a:r>
            <a:r>
              <a:rPr lang="en-US" b="1" dirty="0" err="1"/>
              <a:t>Rp.m</a:t>
            </a:r>
            <a:r>
              <a:rPr lang="en-US" dirty="0"/>
              <a:t>), spot (</a:t>
            </a:r>
            <a:r>
              <a:rPr lang="en-US" b="1" dirty="0" err="1"/>
              <a:t>Rh.m</a:t>
            </a:r>
            <a:r>
              <a:rPr lang="en-US" dirty="0"/>
              <a:t>), </a:t>
            </a:r>
            <a:r>
              <a:rPr lang="en-US" b="1" dirty="0" err="1"/>
              <a:t>dvhfun.m</a:t>
            </a:r>
            <a:r>
              <a:rPr lang="en-US" dirty="0"/>
              <a:t>) and edge (</a:t>
            </a:r>
            <a:r>
              <a:rPr lang="en-US" b="1" dirty="0" err="1"/>
              <a:t>Re.m</a:t>
            </a:r>
            <a:r>
              <a:rPr lang="en-US" dirty="0"/>
              <a:t>, </a:t>
            </a:r>
            <a:r>
              <a:rPr lang="en-US" b="1" dirty="0" err="1"/>
              <a:t>dvefun.m</a:t>
            </a:r>
            <a:r>
              <a:rPr lang="en-US" dirty="0"/>
              <a:t>) decision variables (DVs)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Computer border (</a:t>
            </a:r>
            <a:r>
              <a:rPr lang="en-US" b="1" dirty="0" err="1"/>
              <a:t>Rb.m</a:t>
            </a:r>
            <a:r>
              <a:rPr lang="en-US" dirty="0"/>
              <a:t>, </a:t>
            </a:r>
            <a:r>
              <a:rPr lang="en-US" b="1" dirty="0" err="1"/>
              <a:t>dvbfun.m</a:t>
            </a:r>
            <a:r>
              <a:rPr lang="en-US" dirty="0"/>
              <a:t>) and content ( </a:t>
            </a:r>
            <a:r>
              <a:rPr lang="en-US" b="1" dirty="0" err="1"/>
              <a:t>dvcfun.m</a:t>
            </a:r>
            <a:r>
              <a:rPr lang="en-US" dirty="0"/>
              <a:t>) DVs</a:t>
            </a:r>
          </a:p>
        </p:txBody>
      </p:sp>
    </p:spTree>
    <p:extLst>
      <p:ext uri="{BB962C8B-B14F-4D97-AF65-F5344CB8AC3E}">
        <p14:creationId xmlns:p14="http://schemas.microsoft.com/office/powerpoint/2010/main" val="908025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32216-9EA5-1803-F57F-175A11AB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5D62A6-7E53-0485-D0AA-73F7D65E5579}"/>
              </a:ext>
            </a:extLst>
          </p:cNvPr>
          <p:cNvSpPr txBox="1"/>
          <p:nvPr/>
        </p:nvSpPr>
        <p:spPr>
          <a:xfrm>
            <a:off x="501300" y="490680"/>
            <a:ext cx="1107901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14. Find opt criterion (</a:t>
            </a:r>
            <a:r>
              <a:rPr lang="en-US" dirty="0" err="1"/>
              <a:t>copt</a:t>
            </a:r>
            <a:r>
              <a:rPr lang="en-US" dirty="0"/>
              <a:t>) for content decision variable accuracy</a:t>
            </a:r>
          </a:p>
          <a:p>
            <a:pPr>
              <a:spcAft>
                <a:spcPts val="600"/>
              </a:spcAft>
            </a:pPr>
            <a:r>
              <a:rPr lang="en-US" dirty="0"/>
              <a:t>15. Vary mutual similarity weight (</a:t>
            </a:r>
            <a:r>
              <a:rPr lang="en-US" dirty="0" err="1"/>
              <a:t>wm</a:t>
            </a:r>
            <a:r>
              <a:rPr lang="en-US" dirty="0"/>
              <a:t>) and criterion (</a:t>
            </a:r>
            <a:r>
              <a:rPr lang="en-US" dirty="0" err="1"/>
              <a:t>gc</a:t>
            </a:r>
            <a:r>
              <a:rPr lang="en-US" dirty="0"/>
              <a:t>) parameters; note that when j = 1 and k = 1 </a:t>
            </a:r>
            <a:r>
              <a:rPr lang="en-US" dirty="0" err="1"/>
              <a:t>wm</a:t>
            </a:r>
            <a:r>
              <a:rPr lang="en-US" dirty="0"/>
              <a:t> = </a:t>
            </a:r>
            <a:r>
              <a:rPr lang="en-US" dirty="0" err="1"/>
              <a:t>gc</a:t>
            </a:r>
            <a:r>
              <a:rPr lang="en-US" dirty="0"/>
              <a:t> = 0 and hence no mutual similarity cue (</a:t>
            </a:r>
            <a:r>
              <a:rPr lang="en-US" dirty="0" err="1"/>
              <a:t>gc</a:t>
            </a:r>
            <a:r>
              <a:rPr lang="en-US" dirty="0"/>
              <a:t> should be set to zero when </a:t>
            </a:r>
            <a:r>
              <a:rPr lang="en-US" dirty="0" err="1"/>
              <a:t>wm</a:t>
            </a:r>
            <a:r>
              <a:rPr lang="en-US" dirty="0"/>
              <a:t> is zero)</a:t>
            </a:r>
          </a:p>
          <a:p>
            <a:pPr>
              <a:spcAft>
                <a:spcPts val="600"/>
              </a:spcAft>
            </a:pPr>
            <a:r>
              <a:rPr lang="en-US" dirty="0"/>
              <a:t>16. For each set of parameter values compute near-far and same-different accuracy for all near and far pairs from image with offset of </a:t>
            </a:r>
            <a:r>
              <a:rPr lang="en-US" dirty="0" err="1"/>
              <a:t>copt</a:t>
            </a:r>
            <a:r>
              <a:rPr lang="en-US" dirty="0"/>
              <a:t> for border &amp; content DV (</a:t>
            </a:r>
            <a:r>
              <a:rPr lang="en-US" b="1" dirty="0" err="1"/>
              <a:t>dvbcfun.m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17. Save parameter values that give maximum near-far accuracy</a:t>
            </a:r>
          </a:p>
          <a:p>
            <a:pPr>
              <a:spcAft>
                <a:spcPts val="600"/>
              </a:spcAft>
            </a:pPr>
            <a:r>
              <a:rPr lang="en-US" dirty="0"/>
              <a:t>18. Vary the three grouping decision criteria </a:t>
            </a:r>
            <a:r>
              <a:rPr lang="en-US" dirty="0" err="1"/>
              <a:t>dgc</a:t>
            </a:r>
            <a:r>
              <a:rPr lang="en-US" dirty="0"/>
              <a:t>, cc, and mc to maximize region  count  (</a:t>
            </a:r>
            <a:r>
              <a:rPr lang="en-US" b="1" dirty="0" err="1"/>
              <a:t>mk_groups.m</a:t>
            </a:r>
            <a:r>
              <a:rPr lang="en-US" dirty="0"/>
              <a:t>, </a:t>
            </a:r>
            <a:r>
              <a:rPr lang="en-US" b="1" dirty="0" err="1"/>
              <a:t>reg_count.m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19. Go to step 8</a:t>
            </a:r>
          </a:p>
        </p:txBody>
      </p:sp>
    </p:spTree>
    <p:extLst>
      <p:ext uri="{BB962C8B-B14F-4D97-AF65-F5344CB8AC3E}">
        <p14:creationId xmlns:p14="http://schemas.microsoft.com/office/powerpoint/2010/main" val="7706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26152</TotalTime>
  <Words>3653</Words>
  <Application>Microsoft Office PowerPoint</Application>
  <PresentationFormat>Widescreen</PresentationFormat>
  <Paragraphs>307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Geisler, Wilson S</dc:creator>
  <cp:lastModifiedBy>Geisler, Wilson S</cp:lastModifiedBy>
  <cp:revision>79</cp:revision>
  <dcterms:created xsi:type="dcterms:W3CDTF">2026-05-31T17:57:40Z</dcterms:created>
  <dcterms:modified xsi:type="dcterms:W3CDTF">2026-07-03T15:12:39Z</dcterms:modified>
</cp:coreProperties>
</file>